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402" r:id="rId7"/>
    <p:sldId id="403" r:id="rId8"/>
    <p:sldId id="405" r:id="rId9"/>
    <p:sldId id="404" r:id="rId10"/>
    <p:sldId id="407" r:id="rId11"/>
    <p:sldId id="408" r:id="rId12"/>
    <p:sldId id="409" r:id="rId13"/>
    <p:sldId id="410" r:id="rId14"/>
    <p:sldId id="350" r:id="rId15"/>
    <p:sldId id="411" r:id="rId16"/>
    <p:sldId id="412" r:id="rId17"/>
    <p:sldId id="413" r:id="rId18"/>
    <p:sldId id="377" r:id="rId19"/>
    <p:sldId id="415" r:id="rId20"/>
    <p:sldId id="419" r:id="rId21"/>
    <p:sldId id="418" r:id="rId22"/>
    <p:sldId id="417" r:id="rId23"/>
    <p:sldId id="420" r:id="rId24"/>
    <p:sldId id="414" r:id="rId2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8" y="2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272E74-AFD8-432B-9876-F7BE7A69F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45ED85C-9AEF-4011-B570-EEF12AD38E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BA1DEC-A639-4684-ADE5-017B83C22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4BF5-EE78-410A-B489-E2A0BEF7F12E}" type="datetimeFigureOut">
              <a:rPr lang="it-IT" smtClean="0"/>
              <a:t>18/04/2026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80B5C96-42C7-4FBE-8E15-8EF9EC59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F2428F-E752-43F7-B67A-92567D6E7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881BC-7020-4597-8318-16B7A7CF4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0804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219209-4834-41BE-9B0D-2F8E43E4F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C9EADD-EA46-4511-931F-5381E22AC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95F061E-A3AE-4A83-A86B-803C0F60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4BF5-EE78-410A-B489-E2A0BEF7F12E}" type="datetimeFigureOut">
              <a:rPr lang="it-IT" smtClean="0"/>
              <a:t>18/04/2026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10D9A95-871B-497B-9605-E61498770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4BB37B-22FB-4B7D-9F5D-9B970BE7A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881BC-7020-4597-8318-16B7A7CF4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8544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BF4EC3-1B23-4E78-ABE3-11C01F73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49B3B60-3DDD-4270-A9BE-9B96C3DD8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BFC5E9-4AF3-454A-BA12-CA5EB6232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4BF5-EE78-410A-B489-E2A0BEF7F12E}" type="datetimeFigureOut">
              <a:rPr lang="it-IT" smtClean="0"/>
              <a:t>18/04/2026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9726D86-9DEE-46B2-8276-CB4E11564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D18865-829A-45FF-9B1F-24DC9B7A1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881BC-7020-4597-8318-16B7A7CF4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435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0F05B5-5F8F-4F2F-8982-791FCEB4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C58D52-6D5A-462C-89E9-14583806B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8E81AB1-E2BB-46A7-8248-6EF721056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245E7DC-970D-4002-857A-8572BA327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4BF5-EE78-410A-B489-E2A0BEF7F12E}" type="datetimeFigureOut">
              <a:rPr lang="it-IT" smtClean="0"/>
              <a:t>18/04/2026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87636AC-A242-42B4-A651-0C97454A4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3416C6D-C5A7-4F0C-B543-99784493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881BC-7020-4597-8318-16B7A7CF4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200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35D88A-DC61-4FF9-BBDF-E7BDC49D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0691E31-6260-4DF8-B5B8-FE8A614C6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8D2EAA2-36FB-4DFA-B92B-F02F0E560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33DD203-DAA0-4575-88BB-439960001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CD510BA-CE94-4924-BD69-0B23ECB77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958CFCA-0BE3-4FCB-BEBB-0FD796F2F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4BF5-EE78-410A-B489-E2A0BEF7F12E}" type="datetimeFigureOut">
              <a:rPr lang="it-IT" smtClean="0"/>
              <a:t>18/04/2026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4EC1593-4386-41AF-B7A6-80F1C9973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5B7A43-5946-4DAF-9E60-E5EE229F7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881BC-7020-4597-8318-16B7A7CF4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7980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1A8AB8-7F5B-4484-B73B-80FC9574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76F9884-4807-4404-B3A3-49CB67429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4BF5-EE78-410A-B489-E2A0BEF7F12E}" type="datetimeFigureOut">
              <a:rPr lang="it-IT" smtClean="0"/>
              <a:t>18/04/2026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3F31214-D7CE-48E4-B37C-A11076DA0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13482E1-34F0-4437-878E-2408CFEFA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881BC-7020-4597-8318-16B7A7CF4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184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D1C054D-C279-45B7-A29A-F8F108C0D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4BF5-EE78-410A-B489-E2A0BEF7F12E}" type="datetimeFigureOut">
              <a:rPr lang="it-IT" smtClean="0"/>
              <a:t>18/04/2026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AB20675-6C00-48D4-A13A-4CD7CB398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55A6A5-3CF4-4AB4-906C-781D886A0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881BC-7020-4597-8318-16B7A7CF4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4470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5E34BE-9855-4E53-A953-260A044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AF35E0-83CD-4DA3-ABB9-6DC9CEA43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ADDF7D2-54CA-4292-90E5-684D3C709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899DA1-3F71-4E9E-A62D-FFE82FAD2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4BF5-EE78-410A-B489-E2A0BEF7F12E}" type="datetimeFigureOut">
              <a:rPr lang="it-IT" smtClean="0"/>
              <a:t>18/04/2026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C0D285-1845-4A41-8404-9A665EE3A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C19484A-539F-4F05-BB3F-44CC5952D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881BC-7020-4597-8318-16B7A7CF4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8125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3C7736-5345-4E5A-B2FF-0BE3E5B9A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9036B7A-4FD5-4AA1-8F29-DEDE43D02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AD61B59-AD26-43AA-B1B1-9E0C167E3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44A69FB-132D-4322-B347-BAF470064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4BF5-EE78-410A-B489-E2A0BEF7F12E}" type="datetimeFigureOut">
              <a:rPr lang="it-IT" smtClean="0"/>
              <a:t>18/04/2026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AA35B2E-5A90-4700-9F76-0BF220ADB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8D0D67A-9B42-4FC0-A39B-0BDC8A6B1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881BC-7020-4597-8318-16B7A7CF4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3729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EB8D22-F741-4454-B11B-06A550C96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91EEB39-2813-43F8-AF68-4B1998545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CC60FB-FAFF-4803-833C-45CA65C74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4BF5-EE78-410A-B489-E2A0BEF7F12E}" type="datetimeFigureOut">
              <a:rPr lang="it-IT" smtClean="0"/>
              <a:t>18/04/2026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9D0B958-E640-4AF9-BB54-2CECEC522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157E993-A4BE-476A-94B8-262CB4ACC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881BC-7020-4597-8318-16B7A7CF4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3058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24991F8-524A-4E5F-BD8B-45D5126908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73E7EA0-EEF1-4F66-BA96-EAB2F7FB4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F114976-1808-489C-A442-9E4EE052B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74BF5-EE78-410A-B489-E2A0BEF7F12E}" type="datetimeFigureOut">
              <a:rPr lang="it-IT" smtClean="0"/>
              <a:t>18/04/2026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01266A-64F3-4BBF-9E37-FD4FB1097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1DACD0C-2CBF-4D1F-B330-941DCD760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881BC-7020-4597-8318-16B7A7CF4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700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43568F1-5D69-45FF-A484-C9B12E28E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5CAE72E-FA96-4E39-8DD7-E950A9AEB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C3B058-2A93-47C4-A281-0D92B826A4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74BF5-EE78-410A-B489-E2A0BEF7F12E}" type="datetimeFigureOut">
              <a:rPr lang="it-IT" smtClean="0"/>
              <a:t>18/04/2026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AC47CE0-A62F-4A62-83D0-9F878FE64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109DC5F-39AE-4959-AB19-B653C1AA6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881BC-7020-4597-8318-16B7A7CF4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9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B5F5C5B4-6F1F-47CB-A0ED-D122416434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303585" cy="2303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1028" name="Picture 4" descr="Mongodb, normale, wordmark, logo Libero Icona di Devicon">
            <a:extLst>
              <a:ext uri="{FF2B5EF4-FFF2-40B4-BE49-F238E27FC236}">
                <a16:creationId xmlns:a16="http://schemas.microsoft.com/office/drawing/2014/main" id="{A60EAD55-7D9E-41FC-B865-F1FC1079A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777" y="197936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253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D6FC3E-A1FD-4D2E-8A8D-86EF51C2E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Chi usa MONGODB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821DFB92-0A84-4A32-ADE3-94C8FB3BBC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2074" y="1825625"/>
            <a:ext cx="9667852" cy="4351338"/>
          </a:xfrm>
        </p:spPr>
      </p:pic>
    </p:spTree>
    <p:extLst>
      <p:ext uri="{BB962C8B-B14F-4D97-AF65-F5344CB8AC3E}">
        <p14:creationId xmlns:p14="http://schemas.microsoft.com/office/powerpoint/2010/main" val="3885074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9AF623-24F9-4BED-B585-8E18DC872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Cos’è MONGODB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D92A1A-881C-4511-80D0-2EE86F8A5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 database NON relazionale.</a:t>
            </a:r>
          </a:p>
          <a:p>
            <a:r>
              <a:rPr lang="it-IT" dirty="0"/>
              <a:t>Viene detto NOSQL, acronimo Not </a:t>
            </a:r>
            <a:r>
              <a:rPr lang="it-IT" dirty="0" err="1"/>
              <a:t>Only</a:t>
            </a:r>
            <a:r>
              <a:rPr lang="it-IT" dirty="0"/>
              <a:t> SQL, perché per gestire i dati non usa il linguaggio dei database, appunto SQL.</a:t>
            </a:r>
          </a:p>
          <a:p>
            <a:r>
              <a:rPr lang="it-IT" dirty="0"/>
              <a:t>Viene definito SCHEMALESS (Tutti i dati sono gestiti mediante documenti).</a:t>
            </a:r>
          </a:p>
          <a:p>
            <a:r>
              <a:rPr lang="it-IT" dirty="0"/>
              <a:t>Notevolmente scalabile (replica – </a:t>
            </a:r>
            <a:r>
              <a:rPr lang="it-IT" dirty="0" err="1"/>
              <a:t>shared</a:t>
            </a:r>
            <a:r>
              <a:rPr lang="it-IT" dirty="0"/>
              <a:t>)</a:t>
            </a:r>
          </a:p>
          <a:p>
            <a:r>
              <a:rPr lang="it-IT" dirty="0"/>
              <a:t>Fornisce elevate prestazioni.</a:t>
            </a:r>
          </a:p>
          <a:p>
            <a:r>
              <a:rPr lang="it-IT" dirty="0"/>
              <a:t>Open source</a:t>
            </a:r>
          </a:p>
        </p:txBody>
      </p:sp>
    </p:spTree>
    <p:extLst>
      <p:ext uri="{BB962C8B-B14F-4D97-AF65-F5344CB8AC3E}">
        <p14:creationId xmlns:p14="http://schemas.microsoft.com/office/powerpoint/2010/main" val="2423741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15BECD-F612-40DB-ADA2-AD7FAAF9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Un database NON relazionale.</a:t>
            </a:r>
          </a:p>
        </p:txBody>
      </p:sp>
      <p:graphicFrame>
        <p:nvGraphicFramePr>
          <p:cNvPr id="8" name="Tabella 8">
            <a:extLst>
              <a:ext uri="{FF2B5EF4-FFF2-40B4-BE49-F238E27FC236}">
                <a16:creationId xmlns:a16="http://schemas.microsoft.com/office/drawing/2014/main" id="{145A64C0-8267-4A0E-944D-AB286C2ED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350455"/>
              </p:ext>
            </p:extLst>
          </p:nvPr>
        </p:nvGraphicFramePr>
        <p:xfrm>
          <a:off x="1876854" y="1848249"/>
          <a:ext cx="8438292" cy="4124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146">
                  <a:extLst>
                    <a:ext uri="{9D8B030D-6E8A-4147-A177-3AD203B41FA5}">
                      <a16:colId xmlns:a16="http://schemas.microsoft.com/office/drawing/2014/main" val="1270988475"/>
                    </a:ext>
                  </a:extLst>
                </a:gridCol>
                <a:gridCol w="4219146">
                  <a:extLst>
                    <a:ext uri="{9D8B030D-6E8A-4147-A177-3AD203B41FA5}">
                      <a16:colId xmlns:a16="http://schemas.microsoft.com/office/drawing/2014/main" val="3623287271"/>
                    </a:ext>
                  </a:extLst>
                </a:gridCol>
              </a:tblGrid>
              <a:tr h="412211">
                <a:tc>
                  <a:txBody>
                    <a:bodyPr/>
                    <a:lstStyle/>
                    <a:p>
                      <a:r>
                        <a:rPr lang="it-IT" dirty="0"/>
                        <a:t>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NOSQL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642188"/>
                  </a:ext>
                </a:extLst>
              </a:tr>
              <a:tr h="412211">
                <a:tc>
                  <a:txBody>
                    <a:bodyPr/>
                    <a:lstStyle/>
                    <a:p>
                      <a:r>
                        <a:rPr lang="it-IT" dirty="0"/>
                        <a:t>Relazioni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inesistenti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785396"/>
                  </a:ext>
                </a:extLst>
              </a:tr>
              <a:tr h="412211">
                <a:tc>
                  <a:txBody>
                    <a:bodyPr/>
                    <a:lstStyle/>
                    <a:p>
                      <a:r>
                        <a:rPr lang="it-IT" dirty="0"/>
                        <a:t>Chiavi esterne (rigidi nelle variazioni a cascata – </a:t>
                      </a:r>
                      <a:r>
                        <a:rPr lang="it-IT" dirty="0" err="1"/>
                        <a:t>onupdate</a:t>
                      </a:r>
                      <a:r>
                        <a:rPr lang="it-IT" dirty="0"/>
                        <a:t>/</a:t>
                      </a:r>
                      <a:r>
                        <a:rPr lang="it-IT" dirty="0" err="1"/>
                        <a:t>ondelete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Inesistenti (sul sito alcuni consigli per emularle)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871503"/>
                  </a:ext>
                </a:extLst>
              </a:tr>
              <a:tr h="412211">
                <a:tc>
                  <a:txBody>
                    <a:bodyPr/>
                    <a:lstStyle/>
                    <a:p>
                      <a:r>
                        <a:rPr lang="it-IT" dirty="0"/>
                        <a:t>Regole di progettazione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inesistenti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724280"/>
                  </a:ext>
                </a:extLst>
              </a:tr>
              <a:tr h="412211">
                <a:tc>
                  <a:txBody>
                    <a:bodyPr/>
                    <a:lstStyle/>
                    <a:p>
                      <a:r>
                        <a:rPr lang="it-IT" dirty="0"/>
                        <a:t>Tipi di dati dichiarati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generici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31299"/>
                  </a:ext>
                </a:extLst>
              </a:tr>
              <a:tr h="412211">
                <a:tc>
                  <a:txBody>
                    <a:bodyPr/>
                    <a:lstStyle/>
                    <a:p>
                      <a:r>
                        <a:rPr lang="it-IT" dirty="0"/>
                        <a:t>Integrità referenziale fondamentale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inesistente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380400"/>
                  </a:ext>
                </a:extLst>
              </a:tr>
              <a:tr h="711487">
                <a:tc>
                  <a:txBody>
                    <a:bodyPr/>
                    <a:lstStyle/>
                    <a:p>
                      <a:r>
                        <a:rPr lang="it-IT" dirty="0"/>
                        <a:t>Progettare la chiave primaria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Chiave primaria automatica anche nel nome (stringa di 24 caratteri)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533019"/>
                  </a:ext>
                </a:extLst>
              </a:tr>
              <a:tr h="711487">
                <a:tc>
                  <a:txBody>
                    <a:bodyPr/>
                    <a:lstStyle/>
                    <a:p>
                      <a:r>
                        <a:rPr lang="it-IT" dirty="0"/>
                        <a:t>Valore chiave identificabile (</a:t>
                      </a:r>
                      <a:r>
                        <a:rPr lang="it-IT" dirty="0" err="1"/>
                        <a:t>sql</a:t>
                      </a:r>
                      <a:r>
                        <a:rPr lang="it-IT" dirty="0"/>
                        <a:t> injection)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Impossibile individuare i valori dei campi chiave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815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1838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15BECD-F612-40DB-ADA2-AD7FAAF9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Un database NON relazionale.</a:t>
            </a:r>
          </a:p>
        </p:txBody>
      </p:sp>
      <p:graphicFrame>
        <p:nvGraphicFramePr>
          <p:cNvPr id="8" name="Tabella 8">
            <a:extLst>
              <a:ext uri="{FF2B5EF4-FFF2-40B4-BE49-F238E27FC236}">
                <a16:creationId xmlns:a16="http://schemas.microsoft.com/office/drawing/2014/main" id="{145A64C0-8267-4A0E-944D-AB286C2ED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561774"/>
              </p:ext>
            </p:extLst>
          </p:nvPr>
        </p:nvGraphicFramePr>
        <p:xfrm>
          <a:off x="1876854" y="1526974"/>
          <a:ext cx="8438292" cy="4984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146">
                  <a:extLst>
                    <a:ext uri="{9D8B030D-6E8A-4147-A177-3AD203B41FA5}">
                      <a16:colId xmlns:a16="http://schemas.microsoft.com/office/drawing/2014/main" val="1270988475"/>
                    </a:ext>
                  </a:extLst>
                </a:gridCol>
                <a:gridCol w="4219146">
                  <a:extLst>
                    <a:ext uri="{9D8B030D-6E8A-4147-A177-3AD203B41FA5}">
                      <a16:colId xmlns:a16="http://schemas.microsoft.com/office/drawing/2014/main" val="3623287271"/>
                    </a:ext>
                  </a:extLst>
                </a:gridCol>
              </a:tblGrid>
              <a:tr h="412211">
                <a:tc>
                  <a:txBody>
                    <a:bodyPr/>
                    <a:lstStyle/>
                    <a:p>
                      <a:r>
                        <a:rPr lang="it-IT" dirty="0"/>
                        <a:t>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NOSQL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642188"/>
                  </a:ext>
                </a:extLst>
              </a:tr>
              <a:tr h="412211">
                <a:tc>
                  <a:txBody>
                    <a:bodyPr/>
                    <a:lstStyle/>
                    <a:p>
                      <a:r>
                        <a:rPr lang="it-IT" dirty="0"/>
                        <a:t>Accesso mediante transazione (proprietà ACID)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inesistenti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785396"/>
                  </a:ext>
                </a:extLst>
              </a:tr>
              <a:tr h="412211">
                <a:tc>
                  <a:txBody>
                    <a:bodyPr/>
                    <a:lstStyle/>
                    <a:p>
                      <a:r>
                        <a:rPr lang="it-IT" dirty="0"/>
                        <a:t>ATOMICITA’ – Tutte le attività sui dati devono essere eseguite in blocco, senza escluderne nessuna. Gestione mediante ROLLBACK - 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Inesistenti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871503"/>
                  </a:ext>
                </a:extLst>
              </a:tr>
              <a:tr h="412211">
                <a:tc>
                  <a:txBody>
                    <a:bodyPr/>
                    <a:lstStyle/>
                    <a:p>
                      <a:r>
                        <a:rPr lang="it-IT" dirty="0"/>
                        <a:t>CONSISTENZA – Conclusa la transazione non deve essere possibile non rispettare i vincoli (</a:t>
                      </a:r>
                      <a:r>
                        <a:rPr lang="it-IT" dirty="0" err="1"/>
                        <a:t>constraint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inesistenti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724280"/>
                  </a:ext>
                </a:extLst>
              </a:tr>
              <a:tr h="412211">
                <a:tc>
                  <a:txBody>
                    <a:bodyPr/>
                    <a:lstStyle/>
                    <a:p>
                      <a:r>
                        <a:rPr lang="it-IT" dirty="0"/>
                        <a:t>ISOLAMENTO – Ogni transazione è isolata dalle altre, fintanto che non avviene la </a:t>
                      </a:r>
                      <a:r>
                        <a:rPr lang="it-IT" dirty="0" err="1"/>
                        <a:t>commit</a:t>
                      </a:r>
                      <a:r>
                        <a:rPr lang="it-IT" dirty="0"/>
                        <a:t> (esempio c/c) – Mutua esclusione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inesistente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31299"/>
                  </a:ext>
                </a:extLst>
              </a:tr>
              <a:tr h="412211">
                <a:tc>
                  <a:txBody>
                    <a:bodyPr/>
                    <a:lstStyle/>
                    <a:p>
                      <a:r>
                        <a:rPr lang="it-IT" dirty="0"/>
                        <a:t>DURABILITA’ – concluso la </a:t>
                      </a:r>
                      <a:r>
                        <a:rPr lang="it-IT" dirty="0" err="1"/>
                        <a:t>commit</a:t>
                      </a:r>
                      <a:r>
                        <a:rPr lang="it-IT" dirty="0"/>
                        <a:t> i dati rimangono sul </a:t>
                      </a:r>
                      <a:r>
                        <a:rPr lang="it-IT" dirty="0" err="1"/>
                        <a:t>db</a:t>
                      </a:r>
                      <a:r>
                        <a:rPr lang="it-IT" dirty="0"/>
                        <a:t> anche in caso di problemi del sistema.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inesistente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380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056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FDCB5DBE-27BE-45FF-B57E-C741A794BEB3}"/>
              </a:ext>
            </a:extLst>
          </p:cNvPr>
          <p:cNvSpPr txBox="1"/>
          <p:nvPr/>
        </p:nvSpPr>
        <p:spPr>
          <a:xfrm>
            <a:off x="838200" y="2132855"/>
            <a:ext cx="6575854" cy="1046949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2800" dirty="0"/>
              <a:t>Blocco di istruzioni che deve essere eseguito completamente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9AF48DB4-9FDD-418D-B246-E89FDA0D4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it-IT" dirty="0"/>
              <a:t>TRANSAZIONE</a:t>
            </a:r>
          </a:p>
        </p:txBody>
      </p:sp>
    </p:spTree>
    <p:extLst>
      <p:ext uri="{BB962C8B-B14F-4D97-AF65-F5344CB8AC3E}">
        <p14:creationId xmlns:p14="http://schemas.microsoft.com/office/powerpoint/2010/main" val="2507501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A512205-1589-4810-AA57-116F7654D0BD}"/>
              </a:ext>
            </a:extLst>
          </p:cNvPr>
          <p:cNvSpPr txBox="1"/>
          <p:nvPr/>
        </p:nvSpPr>
        <p:spPr>
          <a:xfrm>
            <a:off x="1481383" y="3944304"/>
            <a:ext cx="2232248" cy="432048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200.000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5791AF24-C996-42E1-9F5B-448664092E5F}"/>
              </a:ext>
            </a:extLst>
          </p:cNvPr>
          <p:cNvSpPr txBox="1"/>
          <p:nvPr/>
        </p:nvSpPr>
        <p:spPr>
          <a:xfrm>
            <a:off x="1769415" y="4304344"/>
            <a:ext cx="7704856" cy="1224136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Comunica alle finanze che ho vinto (incrementare il record della tabella delle finanze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Quota va a Nicole (100.000) incrementa il suo c/c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Incrementa anche il mi conto/c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8D87563-45EB-47C4-A98C-802B9FBFF863}"/>
              </a:ext>
            </a:extLst>
          </p:cNvPr>
          <p:cNvSpPr txBox="1"/>
          <p:nvPr/>
        </p:nvSpPr>
        <p:spPr>
          <a:xfrm>
            <a:off x="838200" y="2132855"/>
            <a:ext cx="6575854" cy="1046949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2800" dirty="0"/>
              <a:t>Blocco di istruzioni che deve essere eseguito completamente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1A7204C-2460-4164-9654-F98DC4939317}"/>
              </a:ext>
            </a:extLst>
          </p:cNvPr>
          <p:cNvSpPr txBox="1"/>
          <p:nvPr/>
        </p:nvSpPr>
        <p:spPr>
          <a:xfrm>
            <a:off x="838200" y="2132855"/>
            <a:ext cx="6575854" cy="1046949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2800" dirty="0"/>
              <a:t>Blocco di istruzioni che deve essere eseguito completamente</a:t>
            </a: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4BABE2D7-DD8F-40CF-90C2-ED77C6B9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it-IT" dirty="0"/>
              <a:t>TRANSAZIONE</a:t>
            </a:r>
          </a:p>
        </p:txBody>
      </p:sp>
    </p:spTree>
    <p:extLst>
      <p:ext uri="{BB962C8B-B14F-4D97-AF65-F5344CB8AC3E}">
        <p14:creationId xmlns:p14="http://schemas.microsoft.com/office/powerpoint/2010/main" val="2005616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A512205-1589-4810-AA57-116F7654D0BD}"/>
              </a:ext>
            </a:extLst>
          </p:cNvPr>
          <p:cNvSpPr txBox="1"/>
          <p:nvPr/>
        </p:nvSpPr>
        <p:spPr>
          <a:xfrm>
            <a:off x="1415480" y="2996952"/>
            <a:ext cx="2232248" cy="432048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200.000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5791AF24-C996-42E1-9F5B-448664092E5F}"/>
              </a:ext>
            </a:extLst>
          </p:cNvPr>
          <p:cNvSpPr txBox="1"/>
          <p:nvPr/>
        </p:nvSpPr>
        <p:spPr>
          <a:xfrm>
            <a:off x="1703512" y="3356992"/>
            <a:ext cx="7704856" cy="1224136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Comunica alle finanze che ho vinto (incrementare il record della tabella delle finanze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Quota va a Nicole (100.000) incrementa il suo c/c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Incrementa anche il mi conto/c</a:t>
            </a:r>
          </a:p>
        </p:txBody>
      </p:sp>
      <p:sp>
        <p:nvSpPr>
          <p:cNvPr id="36" name="Parentesi graffa chiusa 35">
            <a:extLst>
              <a:ext uri="{FF2B5EF4-FFF2-40B4-BE49-F238E27FC236}">
                <a16:creationId xmlns:a16="http://schemas.microsoft.com/office/drawing/2014/main" id="{19269243-F701-4318-933B-15E369F3266E}"/>
              </a:ext>
            </a:extLst>
          </p:cNvPr>
          <p:cNvSpPr/>
          <p:nvPr/>
        </p:nvSpPr>
        <p:spPr>
          <a:xfrm>
            <a:off x="9048898" y="3356992"/>
            <a:ext cx="360040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85A5361B-2394-4347-A9E1-1FCFAC62C003}"/>
              </a:ext>
            </a:extLst>
          </p:cNvPr>
          <p:cNvSpPr txBox="1"/>
          <p:nvPr/>
        </p:nvSpPr>
        <p:spPr>
          <a:xfrm>
            <a:off x="9336360" y="3717032"/>
            <a:ext cx="1224136" cy="36004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transazione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47940A2-8C94-4235-BA09-B999EE4A9422}"/>
              </a:ext>
            </a:extLst>
          </p:cNvPr>
          <p:cNvSpPr txBox="1"/>
          <p:nvPr/>
        </p:nvSpPr>
        <p:spPr>
          <a:xfrm>
            <a:off x="838200" y="2132855"/>
            <a:ext cx="6575854" cy="1046949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2800" dirty="0"/>
              <a:t>Blocco di istruzioni che deve essere eseguito completamente</a:t>
            </a:r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A7E593D1-561B-4008-AA81-D1937A6BF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it-IT" dirty="0"/>
              <a:t>TRANSAZIONE</a:t>
            </a:r>
          </a:p>
        </p:txBody>
      </p:sp>
    </p:spTree>
    <p:extLst>
      <p:ext uri="{BB962C8B-B14F-4D97-AF65-F5344CB8AC3E}">
        <p14:creationId xmlns:p14="http://schemas.microsoft.com/office/powerpoint/2010/main" val="2586360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A512205-1589-4810-AA57-116F7654D0BD}"/>
              </a:ext>
            </a:extLst>
          </p:cNvPr>
          <p:cNvSpPr txBox="1"/>
          <p:nvPr/>
        </p:nvSpPr>
        <p:spPr>
          <a:xfrm>
            <a:off x="1415480" y="2996952"/>
            <a:ext cx="2232248" cy="432048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200.000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5791AF24-C996-42E1-9F5B-448664092E5F}"/>
              </a:ext>
            </a:extLst>
          </p:cNvPr>
          <p:cNvSpPr txBox="1"/>
          <p:nvPr/>
        </p:nvSpPr>
        <p:spPr>
          <a:xfrm>
            <a:off x="1703512" y="3356992"/>
            <a:ext cx="7704856" cy="1224136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Comunica alle finanze che ho vinto (incrementare il record della tabella delle finanze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Quota va a Nicole (100.000) incrementa il suo c/c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Incrementa anche il mi conto/c</a:t>
            </a:r>
          </a:p>
        </p:txBody>
      </p:sp>
      <p:sp>
        <p:nvSpPr>
          <p:cNvPr id="36" name="Parentesi graffa chiusa 35">
            <a:extLst>
              <a:ext uri="{FF2B5EF4-FFF2-40B4-BE49-F238E27FC236}">
                <a16:creationId xmlns:a16="http://schemas.microsoft.com/office/drawing/2014/main" id="{19269243-F701-4318-933B-15E369F3266E}"/>
              </a:ext>
            </a:extLst>
          </p:cNvPr>
          <p:cNvSpPr/>
          <p:nvPr/>
        </p:nvSpPr>
        <p:spPr>
          <a:xfrm>
            <a:off x="9048898" y="3356992"/>
            <a:ext cx="360040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85A5361B-2394-4347-A9E1-1FCFAC62C003}"/>
              </a:ext>
            </a:extLst>
          </p:cNvPr>
          <p:cNvSpPr txBox="1"/>
          <p:nvPr/>
        </p:nvSpPr>
        <p:spPr>
          <a:xfrm>
            <a:off x="9336360" y="3717032"/>
            <a:ext cx="1224136" cy="36004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transazione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812F5264-A353-4799-AA29-ED8E79221752}"/>
              </a:ext>
            </a:extLst>
          </p:cNvPr>
          <p:cNvSpPr txBox="1"/>
          <p:nvPr/>
        </p:nvSpPr>
        <p:spPr>
          <a:xfrm>
            <a:off x="4151784" y="4437112"/>
            <a:ext cx="4176464" cy="1008112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Avvio la transazione (start/avvio)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8A327E6-48A3-4DFF-B538-D3DC8F1B280D}"/>
              </a:ext>
            </a:extLst>
          </p:cNvPr>
          <p:cNvSpPr txBox="1"/>
          <p:nvPr/>
        </p:nvSpPr>
        <p:spPr>
          <a:xfrm>
            <a:off x="838200" y="2132855"/>
            <a:ext cx="6575854" cy="1046949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2800" dirty="0"/>
              <a:t>Blocco di istruzioni che deve essere eseguito completamente</a:t>
            </a: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3FB2638F-D077-42CE-B249-C145B523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it-IT" dirty="0"/>
              <a:t>TRANSAZIONE</a:t>
            </a:r>
          </a:p>
        </p:txBody>
      </p:sp>
    </p:spTree>
    <p:extLst>
      <p:ext uri="{BB962C8B-B14F-4D97-AF65-F5344CB8AC3E}">
        <p14:creationId xmlns:p14="http://schemas.microsoft.com/office/powerpoint/2010/main" val="680774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A512205-1589-4810-AA57-116F7654D0BD}"/>
              </a:ext>
            </a:extLst>
          </p:cNvPr>
          <p:cNvSpPr txBox="1"/>
          <p:nvPr/>
        </p:nvSpPr>
        <p:spPr>
          <a:xfrm>
            <a:off x="1415480" y="2996952"/>
            <a:ext cx="2232248" cy="432048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200.000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5791AF24-C996-42E1-9F5B-448664092E5F}"/>
              </a:ext>
            </a:extLst>
          </p:cNvPr>
          <p:cNvSpPr txBox="1"/>
          <p:nvPr/>
        </p:nvSpPr>
        <p:spPr>
          <a:xfrm>
            <a:off x="1703512" y="3356992"/>
            <a:ext cx="7704856" cy="1224136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Comunica alle finanze che ho vinto (incrementare il record della tabella delle finanze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Quota va a Nicole (100.000) incrementa il suo c/c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Incrementa anche il mi conto/c</a:t>
            </a:r>
          </a:p>
        </p:txBody>
      </p:sp>
      <p:sp>
        <p:nvSpPr>
          <p:cNvPr id="36" name="Parentesi graffa chiusa 35">
            <a:extLst>
              <a:ext uri="{FF2B5EF4-FFF2-40B4-BE49-F238E27FC236}">
                <a16:creationId xmlns:a16="http://schemas.microsoft.com/office/drawing/2014/main" id="{19269243-F701-4318-933B-15E369F3266E}"/>
              </a:ext>
            </a:extLst>
          </p:cNvPr>
          <p:cNvSpPr/>
          <p:nvPr/>
        </p:nvSpPr>
        <p:spPr>
          <a:xfrm>
            <a:off x="9048898" y="3356992"/>
            <a:ext cx="360040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85A5361B-2394-4347-A9E1-1FCFAC62C003}"/>
              </a:ext>
            </a:extLst>
          </p:cNvPr>
          <p:cNvSpPr txBox="1"/>
          <p:nvPr/>
        </p:nvSpPr>
        <p:spPr>
          <a:xfrm>
            <a:off x="9336360" y="3717032"/>
            <a:ext cx="1224136" cy="36004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transazione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812F5264-A353-4799-AA29-ED8E79221752}"/>
              </a:ext>
            </a:extLst>
          </p:cNvPr>
          <p:cNvSpPr txBox="1"/>
          <p:nvPr/>
        </p:nvSpPr>
        <p:spPr>
          <a:xfrm>
            <a:off x="4151784" y="4437112"/>
            <a:ext cx="4176464" cy="1008112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Avvio la transazione (start/avvio)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Eseguo TUTTE le istruzioni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1BFCABB-F13C-478A-A13B-8A8ED8EE6526}"/>
              </a:ext>
            </a:extLst>
          </p:cNvPr>
          <p:cNvSpPr txBox="1"/>
          <p:nvPr/>
        </p:nvSpPr>
        <p:spPr>
          <a:xfrm>
            <a:off x="838200" y="2132855"/>
            <a:ext cx="6575854" cy="1046949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2800" dirty="0"/>
              <a:t>Blocco di istruzioni che deve essere eseguito completamente</a:t>
            </a: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5351300A-67D5-4755-9633-01E22CE04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it-IT" dirty="0"/>
              <a:t>TRANSAZIONE</a:t>
            </a:r>
          </a:p>
        </p:txBody>
      </p:sp>
    </p:spTree>
    <p:extLst>
      <p:ext uri="{BB962C8B-B14F-4D97-AF65-F5344CB8AC3E}">
        <p14:creationId xmlns:p14="http://schemas.microsoft.com/office/powerpoint/2010/main" val="1613590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A512205-1589-4810-AA57-116F7654D0BD}"/>
              </a:ext>
            </a:extLst>
          </p:cNvPr>
          <p:cNvSpPr txBox="1"/>
          <p:nvPr/>
        </p:nvSpPr>
        <p:spPr>
          <a:xfrm>
            <a:off x="1415480" y="2996952"/>
            <a:ext cx="2232248" cy="432048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200.000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5791AF24-C996-42E1-9F5B-448664092E5F}"/>
              </a:ext>
            </a:extLst>
          </p:cNvPr>
          <p:cNvSpPr txBox="1"/>
          <p:nvPr/>
        </p:nvSpPr>
        <p:spPr>
          <a:xfrm>
            <a:off x="1703512" y="3356992"/>
            <a:ext cx="7704856" cy="1224136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Comunica alle finanze che ho vinto (incrementare il record della tabella delle finanze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Quota va a Nicole (100.000) incrementa il suo c/c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Incrementa anche il mi conto/c</a:t>
            </a:r>
          </a:p>
        </p:txBody>
      </p:sp>
      <p:sp>
        <p:nvSpPr>
          <p:cNvPr id="36" name="Parentesi graffa chiusa 35">
            <a:extLst>
              <a:ext uri="{FF2B5EF4-FFF2-40B4-BE49-F238E27FC236}">
                <a16:creationId xmlns:a16="http://schemas.microsoft.com/office/drawing/2014/main" id="{19269243-F701-4318-933B-15E369F3266E}"/>
              </a:ext>
            </a:extLst>
          </p:cNvPr>
          <p:cNvSpPr/>
          <p:nvPr/>
        </p:nvSpPr>
        <p:spPr>
          <a:xfrm>
            <a:off x="9048898" y="3356992"/>
            <a:ext cx="360040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85A5361B-2394-4347-A9E1-1FCFAC62C003}"/>
              </a:ext>
            </a:extLst>
          </p:cNvPr>
          <p:cNvSpPr txBox="1"/>
          <p:nvPr/>
        </p:nvSpPr>
        <p:spPr>
          <a:xfrm>
            <a:off x="9336360" y="3717032"/>
            <a:ext cx="1224136" cy="36004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transazione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812F5264-A353-4799-AA29-ED8E79221752}"/>
              </a:ext>
            </a:extLst>
          </p:cNvPr>
          <p:cNvSpPr txBox="1"/>
          <p:nvPr/>
        </p:nvSpPr>
        <p:spPr>
          <a:xfrm>
            <a:off x="4151784" y="4437112"/>
            <a:ext cx="4176464" cy="1008112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Avvio la transazione (start/avvio)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Eseguo TUTTE le istruzioni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Chiudo la transazione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411E2CF-6074-48DC-95AF-CF6D9CB0F41F}"/>
              </a:ext>
            </a:extLst>
          </p:cNvPr>
          <p:cNvSpPr txBox="1"/>
          <p:nvPr/>
        </p:nvSpPr>
        <p:spPr>
          <a:xfrm>
            <a:off x="838200" y="2132855"/>
            <a:ext cx="6575854" cy="1046949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2800" dirty="0"/>
              <a:t>Blocco di istruzioni che deve essere eseguito completamente</a:t>
            </a: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ACCD797E-17C3-4D9D-B18D-69AEB31D4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it-IT" dirty="0"/>
              <a:t>TRANSAZIONE</a:t>
            </a:r>
          </a:p>
        </p:txBody>
      </p:sp>
    </p:spTree>
    <p:extLst>
      <p:ext uri="{BB962C8B-B14F-4D97-AF65-F5344CB8AC3E}">
        <p14:creationId xmlns:p14="http://schemas.microsoft.com/office/powerpoint/2010/main" val="4187135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A512205-1589-4810-AA57-116F7654D0BD}"/>
              </a:ext>
            </a:extLst>
          </p:cNvPr>
          <p:cNvSpPr txBox="1"/>
          <p:nvPr/>
        </p:nvSpPr>
        <p:spPr>
          <a:xfrm>
            <a:off x="1415480" y="2996952"/>
            <a:ext cx="2232248" cy="432048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200.000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5791AF24-C996-42E1-9F5B-448664092E5F}"/>
              </a:ext>
            </a:extLst>
          </p:cNvPr>
          <p:cNvSpPr txBox="1"/>
          <p:nvPr/>
        </p:nvSpPr>
        <p:spPr>
          <a:xfrm>
            <a:off x="1703512" y="3356992"/>
            <a:ext cx="7704856" cy="1224136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Comunica alle finanze che ho vinto (incrementare il record della tabella delle finanze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Quota va a Nicole (100.000) incrementa il suo c/c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Incrementa anche il mi conto/c</a:t>
            </a:r>
          </a:p>
        </p:txBody>
      </p:sp>
      <p:sp>
        <p:nvSpPr>
          <p:cNvPr id="36" name="Parentesi graffa chiusa 35">
            <a:extLst>
              <a:ext uri="{FF2B5EF4-FFF2-40B4-BE49-F238E27FC236}">
                <a16:creationId xmlns:a16="http://schemas.microsoft.com/office/drawing/2014/main" id="{19269243-F701-4318-933B-15E369F3266E}"/>
              </a:ext>
            </a:extLst>
          </p:cNvPr>
          <p:cNvSpPr/>
          <p:nvPr/>
        </p:nvSpPr>
        <p:spPr>
          <a:xfrm>
            <a:off x="9048898" y="3356992"/>
            <a:ext cx="360040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85A5361B-2394-4347-A9E1-1FCFAC62C003}"/>
              </a:ext>
            </a:extLst>
          </p:cNvPr>
          <p:cNvSpPr txBox="1"/>
          <p:nvPr/>
        </p:nvSpPr>
        <p:spPr>
          <a:xfrm>
            <a:off x="9336360" y="3717032"/>
            <a:ext cx="1224136" cy="36004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transazione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812F5264-A353-4799-AA29-ED8E79221752}"/>
              </a:ext>
            </a:extLst>
          </p:cNvPr>
          <p:cNvSpPr txBox="1"/>
          <p:nvPr/>
        </p:nvSpPr>
        <p:spPr>
          <a:xfrm>
            <a:off x="4151784" y="4437112"/>
            <a:ext cx="4176464" cy="1008112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Avvio la transazione (start/avvio)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Eseguo TUTTE le istruzioni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Chiudo la transazione</a:t>
            </a:r>
          </a:p>
        </p:txBody>
      </p: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FC72F2AD-C026-45A6-B571-495A5A941E85}"/>
              </a:ext>
            </a:extLst>
          </p:cNvPr>
          <p:cNvCxnSpPr/>
          <p:nvPr/>
        </p:nvCxnSpPr>
        <p:spPr>
          <a:xfrm>
            <a:off x="6023992" y="5157192"/>
            <a:ext cx="1296144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BEA427B1-C3F8-447C-AF04-B99000B713F1}"/>
              </a:ext>
            </a:extLst>
          </p:cNvPr>
          <p:cNvSpPr txBox="1"/>
          <p:nvPr/>
        </p:nvSpPr>
        <p:spPr>
          <a:xfrm>
            <a:off x="7249644" y="5341238"/>
            <a:ext cx="574548" cy="36004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OK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F3C4CDB7-3F2A-48D8-A844-E7CF61F82AC7}"/>
              </a:ext>
            </a:extLst>
          </p:cNvPr>
          <p:cNvSpPr txBox="1"/>
          <p:nvPr/>
        </p:nvSpPr>
        <p:spPr>
          <a:xfrm>
            <a:off x="7968208" y="5229200"/>
            <a:ext cx="1512168" cy="432048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endParaRPr lang="it-IT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CBC90BE1-81BC-4222-B459-3FEB2AE530C1}"/>
              </a:ext>
            </a:extLst>
          </p:cNvPr>
          <p:cNvSpPr txBox="1"/>
          <p:nvPr/>
        </p:nvSpPr>
        <p:spPr>
          <a:xfrm>
            <a:off x="8218318" y="5366956"/>
            <a:ext cx="1046034" cy="36004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COMMIT</a:t>
            </a:r>
          </a:p>
        </p:txBody>
      </p:sp>
      <p:cxnSp>
        <p:nvCxnSpPr>
          <p:cNvPr id="64" name="Connettore 2 63">
            <a:extLst>
              <a:ext uri="{FF2B5EF4-FFF2-40B4-BE49-F238E27FC236}">
                <a16:creationId xmlns:a16="http://schemas.microsoft.com/office/drawing/2014/main" id="{12ED4D29-22BF-4148-84A9-1C3C1E6CEE25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>
            <a:off x="7824192" y="5521258"/>
            <a:ext cx="394126" cy="25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970834E-7D97-4A29-A06A-546632C5350C}"/>
              </a:ext>
            </a:extLst>
          </p:cNvPr>
          <p:cNvSpPr txBox="1"/>
          <p:nvPr/>
        </p:nvSpPr>
        <p:spPr>
          <a:xfrm>
            <a:off x="838200" y="2132855"/>
            <a:ext cx="6575854" cy="1046949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2800" dirty="0"/>
              <a:t>Blocco di istruzioni che deve essere eseguito completamente</a:t>
            </a: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BE52EEFE-B532-4CCA-875E-621CC5E52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it-IT" dirty="0"/>
              <a:t>TRANSAZIONE</a:t>
            </a:r>
          </a:p>
        </p:txBody>
      </p:sp>
    </p:spTree>
    <p:extLst>
      <p:ext uri="{BB962C8B-B14F-4D97-AF65-F5344CB8AC3E}">
        <p14:creationId xmlns:p14="http://schemas.microsoft.com/office/powerpoint/2010/main" val="2439992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A512205-1589-4810-AA57-116F7654D0BD}"/>
              </a:ext>
            </a:extLst>
          </p:cNvPr>
          <p:cNvSpPr txBox="1"/>
          <p:nvPr/>
        </p:nvSpPr>
        <p:spPr>
          <a:xfrm>
            <a:off x="1415480" y="2996952"/>
            <a:ext cx="2232248" cy="432048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200.000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5791AF24-C996-42E1-9F5B-448664092E5F}"/>
              </a:ext>
            </a:extLst>
          </p:cNvPr>
          <p:cNvSpPr txBox="1"/>
          <p:nvPr/>
        </p:nvSpPr>
        <p:spPr>
          <a:xfrm>
            <a:off x="1703512" y="3356992"/>
            <a:ext cx="7704856" cy="1224136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Comunica alle finanze che ho vinto (incrementare il record della tabella delle finanze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Quota va a Nicole (100.000) incrementa il suo c/c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Incrementa anche il mi conto/c</a:t>
            </a:r>
          </a:p>
        </p:txBody>
      </p:sp>
      <p:sp>
        <p:nvSpPr>
          <p:cNvPr id="36" name="Parentesi graffa chiusa 35">
            <a:extLst>
              <a:ext uri="{FF2B5EF4-FFF2-40B4-BE49-F238E27FC236}">
                <a16:creationId xmlns:a16="http://schemas.microsoft.com/office/drawing/2014/main" id="{19269243-F701-4318-933B-15E369F3266E}"/>
              </a:ext>
            </a:extLst>
          </p:cNvPr>
          <p:cNvSpPr/>
          <p:nvPr/>
        </p:nvSpPr>
        <p:spPr>
          <a:xfrm>
            <a:off x="9048898" y="3356992"/>
            <a:ext cx="360040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85A5361B-2394-4347-A9E1-1FCFAC62C003}"/>
              </a:ext>
            </a:extLst>
          </p:cNvPr>
          <p:cNvSpPr txBox="1"/>
          <p:nvPr/>
        </p:nvSpPr>
        <p:spPr>
          <a:xfrm>
            <a:off x="9336360" y="3717032"/>
            <a:ext cx="1224136" cy="36004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transazione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812F5264-A353-4799-AA29-ED8E79221752}"/>
              </a:ext>
            </a:extLst>
          </p:cNvPr>
          <p:cNvSpPr txBox="1"/>
          <p:nvPr/>
        </p:nvSpPr>
        <p:spPr>
          <a:xfrm>
            <a:off x="4151784" y="4437112"/>
            <a:ext cx="4176464" cy="1008112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Avvio la transazione (start/avvio)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Eseguo TUTTE le istruzioni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Chiudo la transazione</a:t>
            </a:r>
          </a:p>
        </p:txBody>
      </p: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1B7CD20D-85FF-4E9E-B8DF-D94967994546}"/>
              </a:ext>
            </a:extLst>
          </p:cNvPr>
          <p:cNvCxnSpPr/>
          <p:nvPr/>
        </p:nvCxnSpPr>
        <p:spPr>
          <a:xfrm flipH="1">
            <a:off x="4223792" y="5157192"/>
            <a:ext cx="1008112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FC72F2AD-C026-45A6-B571-495A5A941E85}"/>
              </a:ext>
            </a:extLst>
          </p:cNvPr>
          <p:cNvCxnSpPr/>
          <p:nvPr/>
        </p:nvCxnSpPr>
        <p:spPr>
          <a:xfrm>
            <a:off x="6023992" y="5157192"/>
            <a:ext cx="1296144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BEA427B1-C3F8-447C-AF04-B99000B713F1}"/>
              </a:ext>
            </a:extLst>
          </p:cNvPr>
          <p:cNvSpPr txBox="1"/>
          <p:nvPr/>
        </p:nvSpPr>
        <p:spPr>
          <a:xfrm>
            <a:off x="7249644" y="5341238"/>
            <a:ext cx="574548" cy="36004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OK</a:t>
            </a: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270088D4-9E61-49F8-B905-D2AEAAC11AA1}"/>
              </a:ext>
            </a:extLst>
          </p:cNvPr>
          <p:cNvSpPr txBox="1"/>
          <p:nvPr/>
        </p:nvSpPr>
        <p:spPr>
          <a:xfrm>
            <a:off x="3791744" y="5481228"/>
            <a:ext cx="574548" cy="36004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KO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F3C4CDB7-3F2A-48D8-A844-E7CF61F82AC7}"/>
              </a:ext>
            </a:extLst>
          </p:cNvPr>
          <p:cNvSpPr txBox="1"/>
          <p:nvPr/>
        </p:nvSpPr>
        <p:spPr>
          <a:xfrm>
            <a:off x="7968208" y="5229200"/>
            <a:ext cx="1512168" cy="432048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endParaRPr lang="it-IT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CBC90BE1-81BC-4222-B459-3FEB2AE530C1}"/>
              </a:ext>
            </a:extLst>
          </p:cNvPr>
          <p:cNvSpPr txBox="1"/>
          <p:nvPr/>
        </p:nvSpPr>
        <p:spPr>
          <a:xfrm>
            <a:off x="8218318" y="5366956"/>
            <a:ext cx="1046034" cy="36004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COMMIT</a:t>
            </a:r>
          </a:p>
        </p:txBody>
      </p:sp>
      <p:cxnSp>
        <p:nvCxnSpPr>
          <p:cNvPr id="64" name="Connettore 2 63">
            <a:extLst>
              <a:ext uri="{FF2B5EF4-FFF2-40B4-BE49-F238E27FC236}">
                <a16:creationId xmlns:a16="http://schemas.microsoft.com/office/drawing/2014/main" id="{12ED4D29-22BF-4148-84A9-1C3C1E6CEE25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>
            <a:off x="7824192" y="5521258"/>
            <a:ext cx="394126" cy="25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3CAEC34C-3CD7-481E-BC35-47FCA9AE837E}"/>
              </a:ext>
            </a:extLst>
          </p:cNvPr>
          <p:cNvSpPr txBox="1"/>
          <p:nvPr/>
        </p:nvSpPr>
        <p:spPr>
          <a:xfrm>
            <a:off x="2443410" y="5463472"/>
            <a:ext cx="1046034" cy="36004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ROLLBACK</a:t>
            </a:r>
          </a:p>
        </p:txBody>
      </p:sp>
      <p:cxnSp>
        <p:nvCxnSpPr>
          <p:cNvPr id="71" name="Connettore 2 70">
            <a:extLst>
              <a:ext uri="{FF2B5EF4-FFF2-40B4-BE49-F238E27FC236}">
                <a16:creationId xmlns:a16="http://schemas.microsoft.com/office/drawing/2014/main" id="{E9611DC2-F2C2-4D0F-806A-24B3D7692E54}"/>
              </a:ext>
            </a:extLst>
          </p:cNvPr>
          <p:cNvCxnSpPr/>
          <p:nvPr/>
        </p:nvCxnSpPr>
        <p:spPr>
          <a:xfrm flipH="1">
            <a:off x="3503713" y="5589240"/>
            <a:ext cx="4115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B4899742-59F3-4FB8-8E11-28D5F8F4ECD1}"/>
              </a:ext>
            </a:extLst>
          </p:cNvPr>
          <p:cNvSpPr txBox="1"/>
          <p:nvPr/>
        </p:nvSpPr>
        <p:spPr>
          <a:xfrm>
            <a:off x="838200" y="2132855"/>
            <a:ext cx="6575854" cy="1046949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it-IT" sz="2800" dirty="0"/>
              <a:t>Blocco di istruzioni che deve essere eseguito completamente</a:t>
            </a: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9CF35ED4-AAB6-493F-BAD7-CF274BEF0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it-IT" dirty="0"/>
              <a:t>TRANSAZIONE</a:t>
            </a:r>
          </a:p>
        </p:txBody>
      </p:sp>
    </p:spTree>
    <p:extLst>
      <p:ext uri="{BB962C8B-B14F-4D97-AF65-F5344CB8AC3E}">
        <p14:creationId xmlns:p14="http://schemas.microsoft.com/office/powerpoint/2010/main" val="2971369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543081F3-C616-45AA-8716-76479D6EF460}"/>
              </a:ext>
            </a:extLst>
          </p:cNvPr>
          <p:cNvSpPr txBox="1"/>
          <p:nvPr/>
        </p:nvSpPr>
        <p:spPr>
          <a:xfrm>
            <a:off x="2086426" y="2281517"/>
            <a:ext cx="2664296" cy="635366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ESEGUE ISTRUZIONI </a:t>
            </a:r>
          </a:p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UNA PER VOLTA</a:t>
            </a:r>
          </a:p>
        </p:txBody>
      </p:sp>
      <p:sp>
        <p:nvSpPr>
          <p:cNvPr id="5" name="Cilindro 4">
            <a:extLst>
              <a:ext uri="{FF2B5EF4-FFF2-40B4-BE49-F238E27FC236}">
                <a16:creationId xmlns:a16="http://schemas.microsoft.com/office/drawing/2014/main" id="{5F32074A-2E9B-4441-ACA2-9384A28F61A1}"/>
              </a:ext>
            </a:extLst>
          </p:cNvPr>
          <p:cNvSpPr/>
          <p:nvPr/>
        </p:nvSpPr>
        <p:spPr>
          <a:xfrm>
            <a:off x="5398794" y="2052787"/>
            <a:ext cx="1584176" cy="194421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TABELLA TEMPORANEA/VIRTUALE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E8BDCA83-A0FB-42E2-AE9F-F84203F8965E}"/>
              </a:ext>
            </a:extLst>
          </p:cNvPr>
          <p:cNvCxnSpPr/>
          <p:nvPr/>
        </p:nvCxnSpPr>
        <p:spPr>
          <a:xfrm>
            <a:off x="4246666" y="2556843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ilindro 23">
            <a:extLst>
              <a:ext uri="{FF2B5EF4-FFF2-40B4-BE49-F238E27FC236}">
                <a16:creationId xmlns:a16="http://schemas.microsoft.com/office/drawing/2014/main" id="{BEA27388-0CBE-4306-A6D5-BB5116AB1760}"/>
              </a:ext>
            </a:extLst>
          </p:cNvPr>
          <p:cNvSpPr/>
          <p:nvPr/>
        </p:nvSpPr>
        <p:spPr>
          <a:xfrm>
            <a:off x="7775058" y="1990078"/>
            <a:ext cx="1440160" cy="194421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TABELLA FISICA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CC777CB-5161-40BA-A53C-6F1DAD0DA482}"/>
              </a:ext>
            </a:extLst>
          </p:cNvPr>
          <p:cNvSpPr txBox="1"/>
          <p:nvPr/>
        </p:nvSpPr>
        <p:spPr>
          <a:xfrm>
            <a:off x="2806506" y="4357043"/>
            <a:ext cx="1728192" cy="432048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endParaRPr lang="it-IT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3331FB38-6D11-4440-9ECE-D5538C48E1A9}"/>
              </a:ext>
            </a:extLst>
          </p:cNvPr>
          <p:cNvSpPr txBox="1"/>
          <p:nvPr/>
        </p:nvSpPr>
        <p:spPr>
          <a:xfrm>
            <a:off x="2230442" y="4429051"/>
            <a:ext cx="2664296" cy="635366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CHIUSURA TRANSAZIONE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ADE58C98-AFA0-47DA-921E-C74A9479DDDA}"/>
              </a:ext>
            </a:extLst>
          </p:cNvPr>
          <p:cNvCxnSpPr/>
          <p:nvPr/>
        </p:nvCxnSpPr>
        <p:spPr>
          <a:xfrm>
            <a:off x="4822730" y="4573067"/>
            <a:ext cx="23762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C2EDECD4-4699-4867-B50B-4D4CACDD6110}"/>
              </a:ext>
            </a:extLst>
          </p:cNvPr>
          <p:cNvSpPr txBox="1"/>
          <p:nvPr/>
        </p:nvSpPr>
        <p:spPr>
          <a:xfrm>
            <a:off x="5710340" y="4270776"/>
            <a:ext cx="601045" cy="288031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OK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78545410-CB7D-4735-9CAB-8ADB0492E6AF}"/>
              </a:ext>
            </a:extLst>
          </p:cNvPr>
          <p:cNvCxnSpPr>
            <a:cxnSpLocks/>
          </p:cNvCxnSpPr>
          <p:nvPr/>
        </p:nvCxnSpPr>
        <p:spPr>
          <a:xfrm flipV="1">
            <a:off x="7054978" y="3564956"/>
            <a:ext cx="64807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23E85C6F-C6E3-4027-842C-6F28ECED9A9F}"/>
              </a:ext>
            </a:extLst>
          </p:cNvPr>
          <p:cNvCxnSpPr/>
          <p:nvPr/>
        </p:nvCxnSpPr>
        <p:spPr>
          <a:xfrm>
            <a:off x="4822730" y="4558807"/>
            <a:ext cx="1080120" cy="734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A0EFCA2B-3CF5-46D3-863A-BA255BFB8ED6}"/>
              </a:ext>
            </a:extLst>
          </p:cNvPr>
          <p:cNvSpPr txBox="1"/>
          <p:nvPr/>
        </p:nvSpPr>
        <p:spPr>
          <a:xfrm>
            <a:off x="5750533" y="5134872"/>
            <a:ext cx="601045" cy="288031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KO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AE76A94-09B7-46AE-AFCA-56C09521F77D}"/>
              </a:ext>
            </a:extLst>
          </p:cNvPr>
          <p:cNvSpPr txBox="1"/>
          <p:nvPr/>
        </p:nvSpPr>
        <p:spPr>
          <a:xfrm>
            <a:off x="4849427" y="5482205"/>
            <a:ext cx="3168352" cy="288031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CANCELLA LE TABELLE TEMPORANEE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FC3EC4C3-6652-4E1A-921A-970D13CC6609}"/>
              </a:ext>
            </a:extLst>
          </p:cNvPr>
          <p:cNvSpPr txBox="1"/>
          <p:nvPr/>
        </p:nvSpPr>
        <p:spPr>
          <a:xfrm>
            <a:off x="6910962" y="3630208"/>
            <a:ext cx="864096" cy="288031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COMMIT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54E19EB2-B9F8-4D9F-8D67-9F30FCA98CD9}"/>
              </a:ext>
            </a:extLst>
          </p:cNvPr>
          <p:cNvSpPr txBox="1"/>
          <p:nvPr/>
        </p:nvSpPr>
        <p:spPr>
          <a:xfrm>
            <a:off x="5602328" y="5725196"/>
            <a:ext cx="1380643" cy="288031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it-IT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ROLLBACK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B5EAD105-4035-482F-9F91-0A02E716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it-IT" dirty="0"/>
              <a:t>TRANSAZIONE</a:t>
            </a:r>
          </a:p>
        </p:txBody>
      </p:sp>
    </p:spTree>
    <p:extLst>
      <p:ext uri="{BB962C8B-B14F-4D97-AF65-F5344CB8AC3E}">
        <p14:creationId xmlns:p14="http://schemas.microsoft.com/office/powerpoint/2010/main" val="3482208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9AF623-24F9-4BED-B585-8E18DC872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Viene detto NOSQL: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D92A1A-881C-4511-80D0-2EE86F8A5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NOSQL </a:t>
            </a:r>
            <a:r>
              <a:rPr lang="it-IT" dirty="0" err="1"/>
              <a:t>non’è</a:t>
            </a:r>
            <a:r>
              <a:rPr lang="it-IT" dirty="0"/>
              <a:t> un linguaggio, ma è un modo di denominare tipologie di database che non usano il linguaggio standard SQL</a:t>
            </a:r>
          </a:p>
          <a:p>
            <a:r>
              <a:rPr lang="it-IT" dirty="0"/>
              <a:t>Quindi tanti database sono di tipo NOSQL</a:t>
            </a:r>
          </a:p>
          <a:p>
            <a:r>
              <a:rPr lang="it-IT" dirty="0"/>
              <a:t>Caratteristica di MONGODB è quella di essere orientato ai documenti. </a:t>
            </a:r>
          </a:p>
          <a:p>
            <a:r>
              <a:rPr lang="it-IT" dirty="0"/>
              <a:t>Ogni documento è un oggetto inserito dentro una collezione di oggetti (per questo si chiamano </a:t>
            </a:r>
            <a:r>
              <a:rPr lang="it-IT" dirty="0" err="1"/>
              <a:t>collection</a:t>
            </a:r>
            <a:r>
              <a:rPr lang="it-IT" dirty="0"/>
              <a:t>)</a:t>
            </a:r>
          </a:p>
          <a:p>
            <a:r>
              <a:rPr lang="it-IT" dirty="0"/>
              <a:t>Quindi ogni </a:t>
            </a:r>
            <a:r>
              <a:rPr lang="it-IT" dirty="0" err="1"/>
              <a:t>document</a:t>
            </a:r>
            <a:r>
              <a:rPr lang="it-IT" dirty="0"/>
              <a:t> è un record (per fare il parallelismo con </a:t>
            </a:r>
            <a:r>
              <a:rPr lang="it-IT" dirty="0" err="1"/>
              <a:t>db</a:t>
            </a:r>
            <a:r>
              <a:rPr lang="it-IT" dirty="0"/>
              <a:t> relazionale)</a:t>
            </a:r>
          </a:p>
          <a:p>
            <a:r>
              <a:rPr lang="it-IT" dirty="0"/>
              <a:t>Ogni oggetto (</a:t>
            </a:r>
            <a:r>
              <a:rPr lang="it-IT" dirty="0" err="1"/>
              <a:t>document</a:t>
            </a:r>
            <a:r>
              <a:rPr lang="it-IT" dirty="0"/>
              <a:t>), registra le informazioni mediante coppie CHIAVE:VALORE</a:t>
            </a:r>
          </a:p>
        </p:txBody>
      </p:sp>
    </p:spTree>
    <p:extLst>
      <p:ext uri="{BB962C8B-B14F-4D97-AF65-F5344CB8AC3E}">
        <p14:creationId xmlns:p14="http://schemas.microsoft.com/office/powerpoint/2010/main" val="1272262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145A04-38C0-44B6-A8A2-9C4013506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Database NOSQL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0F5E0A8E-65E7-4AA0-BF97-EDBE0B6B25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9446" y="1825625"/>
            <a:ext cx="7393107" cy="4351338"/>
          </a:xfrm>
        </p:spPr>
      </p:pic>
    </p:spTree>
    <p:extLst>
      <p:ext uri="{BB962C8B-B14F-4D97-AF65-F5344CB8AC3E}">
        <p14:creationId xmlns:p14="http://schemas.microsoft.com/office/powerpoint/2010/main" val="2249180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9AF623-24F9-4BED-B585-8E18DC872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Viene definito SCHEMALESS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D92A1A-881C-4511-80D0-2EE86F8A5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Non esiste nessuna struttura per gli oggetti. Appunto SENZA SCHEMA</a:t>
            </a:r>
          </a:p>
          <a:p>
            <a:r>
              <a:rPr lang="it-IT" dirty="0"/>
              <a:t>Tutti i dati sono gestiti mediante un oggetto (</a:t>
            </a:r>
            <a:r>
              <a:rPr lang="it-IT" dirty="0" err="1"/>
              <a:t>document</a:t>
            </a:r>
            <a:r>
              <a:rPr lang="it-IT" dirty="0"/>
              <a:t>), di tipo JSON (JavaScript Object </a:t>
            </a:r>
            <a:r>
              <a:rPr lang="it-IT" dirty="0" err="1"/>
              <a:t>Notation</a:t>
            </a:r>
            <a:r>
              <a:rPr lang="it-IT" dirty="0"/>
              <a:t>). Si può anche variare il tipo di dato da </a:t>
            </a:r>
            <a:r>
              <a:rPr lang="it-IT" dirty="0" err="1"/>
              <a:t>document</a:t>
            </a:r>
            <a:r>
              <a:rPr lang="it-IT" dirty="0"/>
              <a:t> a </a:t>
            </a:r>
            <a:r>
              <a:rPr lang="it-IT" dirty="0" err="1"/>
              <a:t>document</a:t>
            </a:r>
            <a:r>
              <a:rPr lang="it-IT" dirty="0"/>
              <a:t>. In realtà i dati vengono salvati in formato BSON (codifica binaria del </a:t>
            </a:r>
            <a:r>
              <a:rPr lang="it-IT" dirty="0" err="1"/>
              <a:t>json</a:t>
            </a:r>
            <a:r>
              <a:rPr lang="it-IT" dirty="0"/>
              <a:t>)</a:t>
            </a:r>
          </a:p>
          <a:p>
            <a:r>
              <a:rPr lang="it-IT" dirty="0"/>
              <a:t>Un </a:t>
            </a:r>
            <a:r>
              <a:rPr lang="it-IT" dirty="0" err="1"/>
              <a:t>document</a:t>
            </a:r>
            <a:r>
              <a:rPr lang="it-IT" dirty="0"/>
              <a:t> è un record di una tabella su un database relazionale</a:t>
            </a:r>
          </a:p>
          <a:p>
            <a:r>
              <a:rPr lang="it-IT" dirty="0"/>
              <a:t>Un insieme di </a:t>
            </a:r>
            <a:r>
              <a:rPr lang="it-IT" dirty="0" err="1"/>
              <a:t>document</a:t>
            </a:r>
            <a:r>
              <a:rPr lang="it-IT" dirty="0"/>
              <a:t> forma una </a:t>
            </a:r>
            <a:r>
              <a:rPr lang="it-IT" dirty="0" err="1"/>
              <a:t>collection</a:t>
            </a:r>
            <a:r>
              <a:rPr lang="it-IT" dirty="0"/>
              <a:t> (Una tabella di un database relazionale)</a:t>
            </a:r>
          </a:p>
          <a:p>
            <a:r>
              <a:rPr lang="it-IT" dirty="0"/>
              <a:t>Ogni </a:t>
            </a:r>
            <a:r>
              <a:rPr lang="it-IT" dirty="0" err="1"/>
              <a:t>document</a:t>
            </a:r>
            <a:r>
              <a:rPr lang="it-IT" dirty="0"/>
              <a:t> ha una chiave UNIVOCA che viene creata automaticamente, il cui nome è standard per tutti i </a:t>
            </a:r>
            <a:r>
              <a:rPr lang="it-IT" dirty="0" err="1"/>
              <a:t>document</a:t>
            </a:r>
            <a:r>
              <a:rPr lang="it-IT" dirty="0"/>
              <a:t>: _id</a:t>
            </a:r>
          </a:p>
          <a:p>
            <a:r>
              <a:rPr lang="it-IT" dirty="0"/>
              <a:t>Evito il </a:t>
            </a:r>
            <a:r>
              <a:rPr lang="it-IT" dirty="0" err="1"/>
              <a:t>parsing</a:t>
            </a:r>
            <a:r>
              <a:rPr lang="it-IT" dirty="0"/>
              <a:t> dei dati</a:t>
            </a:r>
          </a:p>
        </p:txBody>
      </p:sp>
    </p:spTree>
    <p:extLst>
      <p:ext uri="{BB962C8B-B14F-4D97-AF65-F5344CB8AC3E}">
        <p14:creationId xmlns:p14="http://schemas.microsoft.com/office/powerpoint/2010/main" val="40324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E21BF3B3-B6FE-4C39-81E5-88E0D29808EB}"/>
              </a:ext>
            </a:extLst>
          </p:cNvPr>
          <p:cNvSpPr/>
          <p:nvPr/>
        </p:nvSpPr>
        <p:spPr>
          <a:xfrm>
            <a:off x="1662301" y="1692783"/>
            <a:ext cx="2951630" cy="1788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447FB43-F9D1-4BDB-81A8-2E2582290EC1}"/>
              </a:ext>
            </a:extLst>
          </p:cNvPr>
          <p:cNvSpPr/>
          <p:nvPr/>
        </p:nvSpPr>
        <p:spPr>
          <a:xfrm>
            <a:off x="1514042" y="3607246"/>
            <a:ext cx="3304615" cy="1546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B3E36F7-BEED-403D-9CAF-9E07A21289F6}"/>
              </a:ext>
            </a:extLst>
          </p:cNvPr>
          <p:cNvSpPr/>
          <p:nvPr/>
        </p:nvSpPr>
        <p:spPr>
          <a:xfrm>
            <a:off x="3166691" y="1844063"/>
            <a:ext cx="1085850" cy="21515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F400101-61CB-4BB1-86ED-FFE5A5246D07}"/>
              </a:ext>
            </a:extLst>
          </p:cNvPr>
          <p:cNvSpPr txBox="1"/>
          <p:nvPr/>
        </p:nvSpPr>
        <p:spPr>
          <a:xfrm>
            <a:off x="1872413" y="1844063"/>
            <a:ext cx="7866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Nome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C5A105A-5CF1-4F28-A3F7-883481C834FF}"/>
              </a:ext>
            </a:extLst>
          </p:cNvPr>
          <p:cNvSpPr/>
          <p:nvPr/>
        </p:nvSpPr>
        <p:spPr>
          <a:xfrm>
            <a:off x="3166691" y="2168127"/>
            <a:ext cx="1085850" cy="21515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59E01C2-C6BC-411F-90DD-DB1E9C84FCA5}"/>
              </a:ext>
            </a:extLst>
          </p:cNvPr>
          <p:cNvSpPr txBox="1"/>
          <p:nvPr/>
        </p:nvSpPr>
        <p:spPr>
          <a:xfrm>
            <a:off x="1872412" y="2168127"/>
            <a:ext cx="1085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Cognome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638B293-3CF2-4E17-BA75-AAD7D08E99B9}"/>
              </a:ext>
            </a:extLst>
          </p:cNvPr>
          <p:cNvSpPr/>
          <p:nvPr/>
        </p:nvSpPr>
        <p:spPr>
          <a:xfrm>
            <a:off x="3166691" y="2544644"/>
            <a:ext cx="1085850" cy="21515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7DC2C62-76B8-4A27-952E-6A2ECF59E1B0}"/>
              </a:ext>
            </a:extLst>
          </p:cNvPr>
          <p:cNvSpPr txBox="1"/>
          <p:nvPr/>
        </p:nvSpPr>
        <p:spPr>
          <a:xfrm>
            <a:off x="1872413" y="2544644"/>
            <a:ext cx="11799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Data di nascita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426F910-9A75-456A-B60C-2C935FEA5F12}"/>
              </a:ext>
            </a:extLst>
          </p:cNvPr>
          <p:cNvSpPr/>
          <p:nvPr/>
        </p:nvSpPr>
        <p:spPr>
          <a:xfrm>
            <a:off x="3166691" y="2904352"/>
            <a:ext cx="1085850" cy="21515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D1BF3C6-798B-458A-BFE2-C0CAD48A039B}"/>
              </a:ext>
            </a:extLst>
          </p:cNvPr>
          <p:cNvSpPr txBox="1"/>
          <p:nvPr/>
        </p:nvSpPr>
        <p:spPr>
          <a:xfrm>
            <a:off x="1872413" y="2904352"/>
            <a:ext cx="7866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Lavoro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8BCD0CFA-F587-4EEE-82E3-C887C1BBFEB2}"/>
              </a:ext>
            </a:extLst>
          </p:cNvPr>
          <p:cNvSpPr/>
          <p:nvPr/>
        </p:nvSpPr>
        <p:spPr>
          <a:xfrm>
            <a:off x="3166691" y="3219024"/>
            <a:ext cx="1085850" cy="215153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Registra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661F880C-053C-467A-93C9-F0A2F13C3C87}"/>
              </a:ext>
            </a:extLst>
          </p:cNvPr>
          <p:cNvCxnSpPr>
            <a:cxnSpLocks/>
          </p:cNvCxnSpPr>
          <p:nvPr/>
        </p:nvCxnSpPr>
        <p:spPr>
          <a:xfrm flipV="1">
            <a:off x="4279435" y="3119504"/>
            <a:ext cx="1867460" cy="186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352733A-8DB3-4B34-B366-CF79952BD6FE}"/>
              </a:ext>
            </a:extLst>
          </p:cNvPr>
          <p:cNvSpPr txBox="1"/>
          <p:nvPr/>
        </p:nvSpPr>
        <p:spPr>
          <a:xfrm>
            <a:off x="5690506" y="1630243"/>
            <a:ext cx="425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File (archivio di dati)  DATABASE</a:t>
            </a:r>
          </a:p>
        </p:txBody>
      </p:sp>
      <p:sp>
        <p:nvSpPr>
          <p:cNvPr id="18" name="Cilindro 17">
            <a:extLst>
              <a:ext uri="{FF2B5EF4-FFF2-40B4-BE49-F238E27FC236}">
                <a16:creationId xmlns:a16="http://schemas.microsoft.com/office/drawing/2014/main" id="{573C44DA-D9DB-46EE-B21C-EBD6376EB690}"/>
              </a:ext>
            </a:extLst>
          </p:cNvPr>
          <p:cNvSpPr/>
          <p:nvPr/>
        </p:nvSpPr>
        <p:spPr>
          <a:xfrm>
            <a:off x="6508285" y="2009509"/>
            <a:ext cx="2097741" cy="194982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3875FF9-ADFB-4F98-B85D-46A113E58D55}"/>
              </a:ext>
            </a:extLst>
          </p:cNvPr>
          <p:cNvSpPr txBox="1"/>
          <p:nvPr/>
        </p:nvSpPr>
        <p:spPr>
          <a:xfrm>
            <a:off x="5627503" y="4039295"/>
            <a:ext cx="3694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Archivio di dati, organizzati in un modo omogeneo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1145036-27CD-4B92-A804-0470F3D90BEF}"/>
              </a:ext>
            </a:extLst>
          </p:cNvPr>
          <p:cNvSpPr txBox="1"/>
          <p:nvPr/>
        </p:nvSpPr>
        <p:spPr>
          <a:xfrm>
            <a:off x="2050585" y="4589927"/>
            <a:ext cx="1032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arraylist</a:t>
            </a:r>
            <a:endParaRPr lang="it-IT" dirty="0"/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D3EF2E7A-FC5D-4DD5-A966-25E8A3C2F462}"/>
              </a:ext>
            </a:extLst>
          </p:cNvPr>
          <p:cNvCxnSpPr/>
          <p:nvPr/>
        </p:nvCxnSpPr>
        <p:spPr>
          <a:xfrm>
            <a:off x="3949982" y="4687419"/>
            <a:ext cx="19094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A24C1312-B22A-45A8-B6FE-6C7877736822}"/>
              </a:ext>
            </a:extLst>
          </p:cNvPr>
          <p:cNvSpPr txBox="1"/>
          <p:nvPr/>
        </p:nvSpPr>
        <p:spPr>
          <a:xfrm>
            <a:off x="6210769" y="4546225"/>
            <a:ext cx="1032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tabella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1E028B22-4EDA-4E36-83A2-9704AA91F890}"/>
              </a:ext>
            </a:extLst>
          </p:cNvPr>
          <p:cNvSpPr txBox="1"/>
          <p:nvPr/>
        </p:nvSpPr>
        <p:spPr>
          <a:xfrm>
            <a:off x="2460721" y="4979892"/>
            <a:ext cx="1227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oggetto</a:t>
            </a:r>
          </a:p>
        </p:txBody>
      </p: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09153837-0219-48B4-A476-2B0DC68A6417}"/>
              </a:ext>
            </a:extLst>
          </p:cNvPr>
          <p:cNvCxnSpPr/>
          <p:nvPr/>
        </p:nvCxnSpPr>
        <p:spPr>
          <a:xfrm flipV="1">
            <a:off x="3923088" y="5067298"/>
            <a:ext cx="1993526" cy="36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B0D8620A-CB42-4057-9A10-A1203DB555B9}"/>
              </a:ext>
            </a:extLst>
          </p:cNvPr>
          <p:cNvSpPr txBox="1"/>
          <p:nvPr/>
        </p:nvSpPr>
        <p:spPr>
          <a:xfrm>
            <a:off x="6210770" y="4890459"/>
            <a:ext cx="907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record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A62C1515-8B60-4DCE-B13A-24FC2AC150A0}"/>
              </a:ext>
            </a:extLst>
          </p:cNvPr>
          <p:cNvSpPr txBox="1"/>
          <p:nvPr/>
        </p:nvSpPr>
        <p:spPr>
          <a:xfrm>
            <a:off x="2820430" y="5292546"/>
            <a:ext cx="12270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Classe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it-IT" sz="1200" dirty="0"/>
              <a:t>Nome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it-IT" sz="1200" dirty="0"/>
              <a:t>Cognome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it-IT" sz="1200" dirty="0"/>
              <a:t>Nascita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it-IT" sz="1200" dirty="0"/>
              <a:t>Lavoro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it-IT" sz="1200" dirty="0"/>
              <a:t>identificativo</a:t>
            </a:r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6643F922-6741-4AEC-AE44-212C510B2BDD}"/>
              </a:ext>
            </a:extLst>
          </p:cNvPr>
          <p:cNvCxnSpPr/>
          <p:nvPr/>
        </p:nvCxnSpPr>
        <p:spPr>
          <a:xfrm>
            <a:off x="3607084" y="5359772"/>
            <a:ext cx="23095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EF570D22-1755-4865-9C58-FCF2B1B91B36}"/>
              </a:ext>
            </a:extLst>
          </p:cNvPr>
          <p:cNvSpPr txBox="1"/>
          <p:nvPr/>
        </p:nvSpPr>
        <p:spPr>
          <a:xfrm>
            <a:off x="6210770" y="5210467"/>
            <a:ext cx="1838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Struttura della tabella</a:t>
            </a:r>
          </a:p>
        </p:txBody>
      </p:sp>
      <p:sp>
        <p:nvSpPr>
          <p:cNvPr id="33" name="Parentesi graffa chiusa 32">
            <a:extLst>
              <a:ext uri="{FF2B5EF4-FFF2-40B4-BE49-F238E27FC236}">
                <a16:creationId xmlns:a16="http://schemas.microsoft.com/office/drawing/2014/main" id="{3385B121-E751-40B4-AD1D-CA619175D2F8}"/>
              </a:ext>
            </a:extLst>
          </p:cNvPr>
          <p:cNvSpPr/>
          <p:nvPr/>
        </p:nvSpPr>
        <p:spPr>
          <a:xfrm>
            <a:off x="3896195" y="5487466"/>
            <a:ext cx="376517" cy="9332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BF608C2B-EA20-4C8B-9F66-5500F125F128}"/>
              </a:ext>
            </a:extLst>
          </p:cNvPr>
          <p:cNvCxnSpPr/>
          <p:nvPr/>
        </p:nvCxnSpPr>
        <p:spPr>
          <a:xfrm flipV="1">
            <a:off x="4272712" y="5851923"/>
            <a:ext cx="1643903" cy="39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79A22A0-7024-401F-B726-13D3B0AD0703}"/>
              </a:ext>
            </a:extLst>
          </p:cNvPr>
          <p:cNvSpPr txBox="1"/>
          <p:nvPr/>
        </p:nvSpPr>
        <p:spPr>
          <a:xfrm>
            <a:off x="6259515" y="5724231"/>
            <a:ext cx="1378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campi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9BAEFAA1-1A7C-4CA1-8A5A-B7DA8348CDE9}"/>
              </a:ext>
            </a:extLst>
          </p:cNvPr>
          <p:cNvSpPr txBox="1"/>
          <p:nvPr/>
        </p:nvSpPr>
        <p:spPr>
          <a:xfrm>
            <a:off x="6323388" y="6035488"/>
            <a:ext cx="1314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Valore di campo</a:t>
            </a:r>
          </a:p>
        </p:txBody>
      </p: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0705ED24-2AB9-48D7-B703-E75A755CDEB6}"/>
              </a:ext>
            </a:extLst>
          </p:cNvPr>
          <p:cNvCxnSpPr/>
          <p:nvPr/>
        </p:nvCxnSpPr>
        <p:spPr>
          <a:xfrm flipV="1">
            <a:off x="7056254" y="5642857"/>
            <a:ext cx="1186703" cy="248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E3740416-7FFE-4446-9F01-339338CB4754}"/>
              </a:ext>
            </a:extLst>
          </p:cNvPr>
          <p:cNvSpPr txBox="1"/>
          <p:nvPr/>
        </p:nvSpPr>
        <p:spPr>
          <a:xfrm>
            <a:off x="8290020" y="5521722"/>
            <a:ext cx="1859056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it-IT" sz="1050" dirty="0"/>
              <a:t>Obbligatori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it-IT" sz="1050" dirty="0"/>
              <a:t>NON obbligatori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it-IT" sz="1050" dirty="0"/>
              <a:t>CAMPO CHIAVE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it-IT" sz="1050" dirty="0"/>
              <a:t>Numerico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it-IT" sz="1050" dirty="0"/>
              <a:t>Sequenziale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it-IT" sz="1050" dirty="0" err="1"/>
              <a:t>autoincrementale</a:t>
            </a:r>
            <a:endParaRPr lang="it-IT" sz="1050" dirty="0"/>
          </a:p>
          <a:p>
            <a:pPr marL="214313" indent="-214313">
              <a:buFont typeface="Arial" panose="020B0604020202020204" pitchFamily="34" charset="0"/>
              <a:buChar char="•"/>
            </a:pPr>
            <a:endParaRPr lang="it-IT" sz="1050" dirty="0"/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38FF08F6-C0A5-45CA-9F4F-FAF00A0CC1B5}"/>
              </a:ext>
            </a:extLst>
          </p:cNvPr>
          <p:cNvSpPr txBox="1"/>
          <p:nvPr/>
        </p:nvSpPr>
        <p:spPr>
          <a:xfrm>
            <a:off x="3949982" y="4166688"/>
            <a:ext cx="1648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PARSING</a:t>
            </a:r>
          </a:p>
          <a:p>
            <a:r>
              <a:rPr lang="it-IT" sz="1200" dirty="0"/>
              <a:t>DEI DATI</a:t>
            </a:r>
          </a:p>
        </p:txBody>
      </p:sp>
      <p:sp>
        <p:nvSpPr>
          <p:cNvPr id="34" name="Titolo 1">
            <a:extLst>
              <a:ext uri="{FF2B5EF4-FFF2-40B4-BE49-F238E27FC236}">
                <a16:creationId xmlns:a16="http://schemas.microsoft.com/office/drawing/2014/main" id="{3AC03867-C5DE-4EF3-82EC-68720ECD4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it-IT" dirty="0"/>
              <a:t>PARSING DEI DATI</a:t>
            </a:r>
          </a:p>
        </p:txBody>
      </p:sp>
    </p:spTree>
    <p:extLst>
      <p:ext uri="{BB962C8B-B14F-4D97-AF65-F5344CB8AC3E}">
        <p14:creationId xmlns:p14="http://schemas.microsoft.com/office/powerpoint/2010/main" val="2939458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lindro 3">
            <a:extLst>
              <a:ext uri="{FF2B5EF4-FFF2-40B4-BE49-F238E27FC236}">
                <a16:creationId xmlns:a16="http://schemas.microsoft.com/office/drawing/2014/main" id="{66E0151B-8952-A3E1-0377-A290308BA468}"/>
              </a:ext>
            </a:extLst>
          </p:cNvPr>
          <p:cNvSpPr/>
          <p:nvPr/>
        </p:nvSpPr>
        <p:spPr>
          <a:xfrm>
            <a:off x="2497015" y="1956916"/>
            <a:ext cx="1130440" cy="71092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ilindro 4">
            <a:extLst>
              <a:ext uri="{FF2B5EF4-FFF2-40B4-BE49-F238E27FC236}">
                <a16:creationId xmlns:a16="http://schemas.microsoft.com/office/drawing/2014/main" id="{E63E4218-3F36-8540-BCE4-396AE10FEDCF}"/>
              </a:ext>
            </a:extLst>
          </p:cNvPr>
          <p:cNvSpPr/>
          <p:nvPr/>
        </p:nvSpPr>
        <p:spPr>
          <a:xfrm>
            <a:off x="2497015" y="2336241"/>
            <a:ext cx="1130440" cy="710921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ilindro 5">
            <a:extLst>
              <a:ext uri="{FF2B5EF4-FFF2-40B4-BE49-F238E27FC236}">
                <a16:creationId xmlns:a16="http://schemas.microsoft.com/office/drawing/2014/main" id="{69B832AE-D246-3845-8165-752453C835E2}"/>
              </a:ext>
            </a:extLst>
          </p:cNvPr>
          <p:cNvSpPr/>
          <p:nvPr/>
        </p:nvSpPr>
        <p:spPr>
          <a:xfrm>
            <a:off x="2497015" y="2715566"/>
            <a:ext cx="1130440" cy="710921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D1DFA6DA-B5F2-F40F-7D46-FB0436BC8593}"/>
              </a:ext>
            </a:extLst>
          </p:cNvPr>
          <p:cNvSpPr txBox="1"/>
          <p:nvPr/>
        </p:nvSpPr>
        <p:spPr>
          <a:xfrm>
            <a:off x="2592475" y="1529026"/>
            <a:ext cx="1034980" cy="380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Primario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6399815F-C94D-E598-BDEC-7BC8A4F39AC8}"/>
              </a:ext>
            </a:extLst>
          </p:cNvPr>
          <p:cNvSpPr txBox="1"/>
          <p:nvPr/>
        </p:nvSpPr>
        <p:spPr>
          <a:xfrm>
            <a:off x="1809960" y="693032"/>
            <a:ext cx="2600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REPLICA SET</a:t>
            </a:r>
          </a:p>
        </p:txBody>
      </p:sp>
    </p:spTree>
    <p:extLst>
      <p:ext uri="{BB962C8B-B14F-4D97-AF65-F5344CB8AC3E}">
        <p14:creationId xmlns:p14="http://schemas.microsoft.com/office/powerpoint/2010/main" val="1450243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871E9-7C94-1A80-EB4B-AB55FF778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lindro 3">
            <a:extLst>
              <a:ext uri="{FF2B5EF4-FFF2-40B4-BE49-F238E27FC236}">
                <a16:creationId xmlns:a16="http://schemas.microsoft.com/office/drawing/2014/main" id="{70C52BFF-0A2A-4D9D-D2A3-4037619A6B6C}"/>
              </a:ext>
            </a:extLst>
          </p:cNvPr>
          <p:cNvSpPr/>
          <p:nvPr/>
        </p:nvSpPr>
        <p:spPr>
          <a:xfrm>
            <a:off x="2497015" y="1956916"/>
            <a:ext cx="1130440" cy="71092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ilindro 4">
            <a:extLst>
              <a:ext uri="{FF2B5EF4-FFF2-40B4-BE49-F238E27FC236}">
                <a16:creationId xmlns:a16="http://schemas.microsoft.com/office/drawing/2014/main" id="{1BA4DBAA-2B08-9407-DC61-5838F3B3CBD3}"/>
              </a:ext>
            </a:extLst>
          </p:cNvPr>
          <p:cNvSpPr/>
          <p:nvPr/>
        </p:nvSpPr>
        <p:spPr>
          <a:xfrm>
            <a:off x="2497015" y="2336241"/>
            <a:ext cx="1130440" cy="710921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ilindro 5">
            <a:extLst>
              <a:ext uri="{FF2B5EF4-FFF2-40B4-BE49-F238E27FC236}">
                <a16:creationId xmlns:a16="http://schemas.microsoft.com/office/drawing/2014/main" id="{C4810731-F2E1-2DAC-0C23-D1683A29ED37}"/>
              </a:ext>
            </a:extLst>
          </p:cNvPr>
          <p:cNvSpPr/>
          <p:nvPr/>
        </p:nvSpPr>
        <p:spPr>
          <a:xfrm>
            <a:off x="2497015" y="2715566"/>
            <a:ext cx="1130440" cy="710921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ilindro 6">
            <a:extLst>
              <a:ext uri="{FF2B5EF4-FFF2-40B4-BE49-F238E27FC236}">
                <a16:creationId xmlns:a16="http://schemas.microsoft.com/office/drawing/2014/main" id="{68849AAF-9B87-7A52-F14C-59F4A2F92A73}"/>
              </a:ext>
            </a:extLst>
          </p:cNvPr>
          <p:cNvSpPr/>
          <p:nvPr/>
        </p:nvSpPr>
        <p:spPr>
          <a:xfrm>
            <a:off x="921099" y="4244591"/>
            <a:ext cx="1130440" cy="71092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ilindro 7">
            <a:extLst>
              <a:ext uri="{FF2B5EF4-FFF2-40B4-BE49-F238E27FC236}">
                <a16:creationId xmlns:a16="http://schemas.microsoft.com/office/drawing/2014/main" id="{7BE679D5-746D-93E3-A8B9-B70481AD9582}"/>
              </a:ext>
            </a:extLst>
          </p:cNvPr>
          <p:cNvSpPr/>
          <p:nvPr/>
        </p:nvSpPr>
        <p:spPr>
          <a:xfrm>
            <a:off x="921099" y="4623916"/>
            <a:ext cx="1130440" cy="710921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ilindro 8">
            <a:extLst>
              <a:ext uri="{FF2B5EF4-FFF2-40B4-BE49-F238E27FC236}">
                <a16:creationId xmlns:a16="http://schemas.microsoft.com/office/drawing/2014/main" id="{13AE78D8-30DD-6F60-CD3F-A8714637A062}"/>
              </a:ext>
            </a:extLst>
          </p:cNvPr>
          <p:cNvSpPr/>
          <p:nvPr/>
        </p:nvSpPr>
        <p:spPr>
          <a:xfrm>
            <a:off x="921099" y="5003241"/>
            <a:ext cx="1130440" cy="710921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ilindro 9">
            <a:extLst>
              <a:ext uri="{FF2B5EF4-FFF2-40B4-BE49-F238E27FC236}">
                <a16:creationId xmlns:a16="http://schemas.microsoft.com/office/drawing/2014/main" id="{82858432-B34F-E71A-6E9F-DBFD75D52BE4}"/>
              </a:ext>
            </a:extLst>
          </p:cNvPr>
          <p:cNvSpPr/>
          <p:nvPr/>
        </p:nvSpPr>
        <p:spPr>
          <a:xfrm>
            <a:off x="2453473" y="4244591"/>
            <a:ext cx="1130440" cy="71092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ilindro 10">
            <a:extLst>
              <a:ext uri="{FF2B5EF4-FFF2-40B4-BE49-F238E27FC236}">
                <a16:creationId xmlns:a16="http://schemas.microsoft.com/office/drawing/2014/main" id="{24690651-33B3-B017-B9E9-D572E9B780FF}"/>
              </a:ext>
            </a:extLst>
          </p:cNvPr>
          <p:cNvSpPr/>
          <p:nvPr/>
        </p:nvSpPr>
        <p:spPr>
          <a:xfrm>
            <a:off x="2453473" y="4623916"/>
            <a:ext cx="1130440" cy="710921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ilindro 11">
            <a:extLst>
              <a:ext uri="{FF2B5EF4-FFF2-40B4-BE49-F238E27FC236}">
                <a16:creationId xmlns:a16="http://schemas.microsoft.com/office/drawing/2014/main" id="{2FB08AF4-E4BF-577D-1BD5-623132F5FD45}"/>
              </a:ext>
            </a:extLst>
          </p:cNvPr>
          <p:cNvSpPr/>
          <p:nvPr/>
        </p:nvSpPr>
        <p:spPr>
          <a:xfrm>
            <a:off x="2453473" y="5003241"/>
            <a:ext cx="1130440" cy="710921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ilindro 12">
            <a:extLst>
              <a:ext uri="{FF2B5EF4-FFF2-40B4-BE49-F238E27FC236}">
                <a16:creationId xmlns:a16="http://schemas.microsoft.com/office/drawing/2014/main" id="{1CD40FBE-EB5C-06FE-8C6A-BB929B624A7D}"/>
              </a:ext>
            </a:extLst>
          </p:cNvPr>
          <p:cNvSpPr/>
          <p:nvPr/>
        </p:nvSpPr>
        <p:spPr>
          <a:xfrm>
            <a:off x="4086329" y="4244591"/>
            <a:ext cx="1130440" cy="71092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ilindro 13">
            <a:extLst>
              <a:ext uri="{FF2B5EF4-FFF2-40B4-BE49-F238E27FC236}">
                <a16:creationId xmlns:a16="http://schemas.microsoft.com/office/drawing/2014/main" id="{F756ECAB-BF33-04C9-7482-BE8E1E59D4AD}"/>
              </a:ext>
            </a:extLst>
          </p:cNvPr>
          <p:cNvSpPr/>
          <p:nvPr/>
        </p:nvSpPr>
        <p:spPr>
          <a:xfrm>
            <a:off x="4086329" y="4623916"/>
            <a:ext cx="1130440" cy="710921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Cilindro 14">
            <a:extLst>
              <a:ext uri="{FF2B5EF4-FFF2-40B4-BE49-F238E27FC236}">
                <a16:creationId xmlns:a16="http://schemas.microsoft.com/office/drawing/2014/main" id="{2E33D787-34BF-6A11-422C-AB7896D5C274}"/>
              </a:ext>
            </a:extLst>
          </p:cNvPr>
          <p:cNvSpPr/>
          <p:nvPr/>
        </p:nvSpPr>
        <p:spPr>
          <a:xfrm>
            <a:off x="4086329" y="5003241"/>
            <a:ext cx="1130440" cy="710921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AEFA9C57-3B62-8BB7-E219-AA2E5E274C94}"/>
              </a:ext>
            </a:extLst>
          </p:cNvPr>
          <p:cNvCxnSpPr>
            <a:stCxn id="6" idx="3"/>
            <a:endCxn id="13" idx="1"/>
          </p:cNvCxnSpPr>
          <p:nvPr/>
        </p:nvCxnSpPr>
        <p:spPr>
          <a:xfrm>
            <a:off x="3062235" y="3426487"/>
            <a:ext cx="1589314" cy="818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CBE84F8F-F47D-58BF-0A2D-3D0849640B2B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H="1">
            <a:off x="3018693" y="3426487"/>
            <a:ext cx="43542" cy="818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BBF732DE-C9DE-1BD0-8EEE-FE3B77F39C30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H="1">
            <a:off x="1486319" y="3426487"/>
            <a:ext cx="1575916" cy="818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23ED0078-7490-5C3C-3727-5079BAB3D56C}"/>
              </a:ext>
            </a:extLst>
          </p:cNvPr>
          <p:cNvSpPr txBox="1"/>
          <p:nvPr/>
        </p:nvSpPr>
        <p:spPr>
          <a:xfrm>
            <a:off x="2592475" y="1529026"/>
            <a:ext cx="1034980" cy="380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Primario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B8AE2844-FF44-69D9-00CA-4766EB945D0F}"/>
              </a:ext>
            </a:extLst>
          </p:cNvPr>
          <p:cNvSpPr txBox="1"/>
          <p:nvPr/>
        </p:nvSpPr>
        <p:spPr>
          <a:xfrm>
            <a:off x="835688" y="5714162"/>
            <a:ext cx="127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Secondario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362ADF54-2D7A-D448-F2B2-225F8015D920}"/>
              </a:ext>
            </a:extLst>
          </p:cNvPr>
          <p:cNvSpPr txBox="1"/>
          <p:nvPr/>
        </p:nvSpPr>
        <p:spPr>
          <a:xfrm>
            <a:off x="2347966" y="5709921"/>
            <a:ext cx="127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Secondario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CCEF55A0-1F1F-9463-5923-8CDDFB1E5C7F}"/>
              </a:ext>
            </a:extLst>
          </p:cNvPr>
          <p:cNvSpPr txBox="1"/>
          <p:nvPr/>
        </p:nvSpPr>
        <p:spPr>
          <a:xfrm>
            <a:off x="3985847" y="5709921"/>
            <a:ext cx="127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Secondario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B3A01889-228D-6A1F-92B6-02359D8A8D14}"/>
              </a:ext>
            </a:extLst>
          </p:cNvPr>
          <p:cNvSpPr txBox="1"/>
          <p:nvPr/>
        </p:nvSpPr>
        <p:spPr>
          <a:xfrm>
            <a:off x="1809960" y="693032"/>
            <a:ext cx="2600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REPLICA SET</a:t>
            </a:r>
          </a:p>
        </p:txBody>
      </p:sp>
    </p:spTree>
    <p:extLst>
      <p:ext uri="{BB962C8B-B14F-4D97-AF65-F5344CB8AC3E}">
        <p14:creationId xmlns:p14="http://schemas.microsoft.com/office/powerpoint/2010/main" val="1582020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C7B1F-E5F0-DB62-9696-FE395FF98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lindro 3">
            <a:extLst>
              <a:ext uri="{FF2B5EF4-FFF2-40B4-BE49-F238E27FC236}">
                <a16:creationId xmlns:a16="http://schemas.microsoft.com/office/drawing/2014/main" id="{902BA260-4322-2494-8305-613ACDEE9FC1}"/>
              </a:ext>
            </a:extLst>
          </p:cNvPr>
          <p:cNvSpPr/>
          <p:nvPr/>
        </p:nvSpPr>
        <p:spPr>
          <a:xfrm>
            <a:off x="2497015" y="1956916"/>
            <a:ext cx="1130440" cy="71092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ilindro 4">
            <a:extLst>
              <a:ext uri="{FF2B5EF4-FFF2-40B4-BE49-F238E27FC236}">
                <a16:creationId xmlns:a16="http://schemas.microsoft.com/office/drawing/2014/main" id="{C9AAED66-013D-74F3-5158-B4545D7BC874}"/>
              </a:ext>
            </a:extLst>
          </p:cNvPr>
          <p:cNvSpPr/>
          <p:nvPr/>
        </p:nvSpPr>
        <p:spPr>
          <a:xfrm>
            <a:off x="2497015" y="2336241"/>
            <a:ext cx="1130440" cy="710921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ilindro 5">
            <a:extLst>
              <a:ext uri="{FF2B5EF4-FFF2-40B4-BE49-F238E27FC236}">
                <a16:creationId xmlns:a16="http://schemas.microsoft.com/office/drawing/2014/main" id="{5D01BBFE-56C9-B667-22BF-16CFCBE06A88}"/>
              </a:ext>
            </a:extLst>
          </p:cNvPr>
          <p:cNvSpPr/>
          <p:nvPr/>
        </p:nvSpPr>
        <p:spPr>
          <a:xfrm>
            <a:off x="2497015" y="2715566"/>
            <a:ext cx="1130440" cy="710921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ilindro 6">
            <a:extLst>
              <a:ext uri="{FF2B5EF4-FFF2-40B4-BE49-F238E27FC236}">
                <a16:creationId xmlns:a16="http://schemas.microsoft.com/office/drawing/2014/main" id="{74ECD76F-8B94-588C-48FA-62196C0BD234}"/>
              </a:ext>
            </a:extLst>
          </p:cNvPr>
          <p:cNvSpPr/>
          <p:nvPr/>
        </p:nvSpPr>
        <p:spPr>
          <a:xfrm>
            <a:off x="921099" y="4244591"/>
            <a:ext cx="1130440" cy="71092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ilindro 7">
            <a:extLst>
              <a:ext uri="{FF2B5EF4-FFF2-40B4-BE49-F238E27FC236}">
                <a16:creationId xmlns:a16="http://schemas.microsoft.com/office/drawing/2014/main" id="{73AACF56-32A5-A65B-D684-CCE21E47F494}"/>
              </a:ext>
            </a:extLst>
          </p:cNvPr>
          <p:cNvSpPr/>
          <p:nvPr/>
        </p:nvSpPr>
        <p:spPr>
          <a:xfrm>
            <a:off x="921099" y="4623916"/>
            <a:ext cx="1130440" cy="710921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ilindro 8">
            <a:extLst>
              <a:ext uri="{FF2B5EF4-FFF2-40B4-BE49-F238E27FC236}">
                <a16:creationId xmlns:a16="http://schemas.microsoft.com/office/drawing/2014/main" id="{71856E8F-5EE1-1827-CB3B-2FB87573FE50}"/>
              </a:ext>
            </a:extLst>
          </p:cNvPr>
          <p:cNvSpPr/>
          <p:nvPr/>
        </p:nvSpPr>
        <p:spPr>
          <a:xfrm>
            <a:off x="921099" y="5003241"/>
            <a:ext cx="1130440" cy="710921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ilindro 9">
            <a:extLst>
              <a:ext uri="{FF2B5EF4-FFF2-40B4-BE49-F238E27FC236}">
                <a16:creationId xmlns:a16="http://schemas.microsoft.com/office/drawing/2014/main" id="{81D3D9C0-1DCC-38A3-6BE5-90804D347975}"/>
              </a:ext>
            </a:extLst>
          </p:cNvPr>
          <p:cNvSpPr/>
          <p:nvPr/>
        </p:nvSpPr>
        <p:spPr>
          <a:xfrm>
            <a:off x="2453473" y="4244591"/>
            <a:ext cx="1130440" cy="71092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ilindro 10">
            <a:extLst>
              <a:ext uri="{FF2B5EF4-FFF2-40B4-BE49-F238E27FC236}">
                <a16:creationId xmlns:a16="http://schemas.microsoft.com/office/drawing/2014/main" id="{10ABC590-624C-650C-041F-A8220AAA93E2}"/>
              </a:ext>
            </a:extLst>
          </p:cNvPr>
          <p:cNvSpPr/>
          <p:nvPr/>
        </p:nvSpPr>
        <p:spPr>
          <a:xfrm>
            <a:off x="2453473" y="4623916"/>
            <a:ext cx="1130440" cy="710921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ilindro 11">
            <a:extLst>
              <a:ext uri="{FF2B5EF4-FFF2-40B4-BE49-F238E27FC236}">
                <a16:creationId xmlns:a16="http://schemas.microsoft.com/office/drawing/2014/main" id="{AF3E4667-8E7D-ED7E-D2D8-2FDFE6B0814D}"/>
              </a:ext>
            </a:extLst>
          </p:cNvPr>
          <p:cNvSpPr/>
          <p:nvPr/>
        </p:nvSpPr>
        <p:spPr>
          <a:xfrm>
            <a:off x="2453473" y="5003241"/>
            <a:ext cx="1130440" cy="710921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ilindro 12">
            <a:extLst>
              <a:ext uri="{FF2B5EF4-FFF2-40B4-BE49-F238E27FC236}">
                <a16:creationId xmlns:a16="http://schemas.microsoft.com/office/drawing/2014/main" id="{1A5CDE62-7609-8FEA-7310-CD6284798CB2}"/>
              </a:ext>
            </a:extLst>
          </p:cNvPr>
          <p:cNvSpPr/>
          <p:nvPr/>
        </p:nvSpPr>
        <p:spPr>
          <a:xfrm>
            <a:off x="4086329" y="4244591"/>
            <a:ext cx="1130440" cy="71092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ilindro 13">
            <a:extLst>
              <a:ext uri="{FF2B5EF4-FFF2-40B4-BE49-F238E27FC236}">
                <a16:creationId xmlns:a16="http://schemas.microsoft.com/office/drawing/2014/main" id="{B3BF7259-8586-81C4-BAF8-551FC2C52158}"/>
              </a:ext>
            </a:extLst>
          </p:cNvPr>
          <p:cNvSpPr/>
          <p:nvPr/>
        </p:nvSpPr>
        <p:spPr>
          <a:xfrm>
            <a:off x="4086329" y="4623916"/>
            <a:ext cx="1130440" cy="710921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Cilindro 14">
            <a:extLst>
              <a:ext uri="{FF2B5EF4-FFF2-40B4-BE49-F238E27FC236}">
                <a16:creationId xmlns:a16="http://schemas.microsoft.com/office/drawing/2014/main" id="{336319A6-A2AD-F656-DBC3-1AF1DDC05405}"/>
              </a:ext>
            </a:extLst>
          </p:cNvPr>
          <p:cNvSpPr/>
          <p:nvPr/>
        </p:nvSpPr>
        <p:spPr>
          <a:xfrm>
            <a:off x="4086329" y="5003241"/>
            <a:ext cx="1130440" cy="710921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CDCF512D-75C6-CA93-3DB9-038196BF30AE}"/>
              </a:ext>
            </a:extLst>
          </p:cNvPr>
          <p:cNvCxnSpPr>
            <a:stCxn id="6" idx="3"/>
            <a:endCxn id="13" idx="1"/>
          </p:cNvCxnSpPr>
          <p:nvPr/>
        </p:nvCxnSpPr>
        <p:spPr>
          <a:xfrm>
            <a:off x="3062235" y="3426487"/>
            <a:ext cx="1589314" cy="818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5F67B40E-4021-27A7-CE1D-264BBAAFA09E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H="1">
            <a:off x="3018693" y="3426487"/>
            <a:ext cx="43542" cy="818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D799198C-A6B7-DE73-4FDD-900832A5E228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H="1">
            <a:off x="1486319" y="3426487"/>
            <a:ext cx="1575916" cy="818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AC60B953-166D-30C1-4562-8DAD931577B4}"/>
              </a:ext>
            </a:extLst>
          </p:cNvPr>
          <p:cNvSpPr txBox="1"/>
          <p:nvPr/>
        </p:nvSpPr>
        <p:spPr>
          <a:xfrm>
            <a:off x="2592475" y="1529026"/>
            <a:ext cx="1034980" cy="380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Primario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A4AC30C8-75B4-09E8-DC1C-28D6106A4420}"/>
              </a:ext>
            </a:extLst>
          </p:cNvPr>
          <p:cNvSpPr txBox="1"/>
          <p:nvPr/>
        </p:nvSpPr>
        <p:spPr>
          <a:xfrm>
            <a:off x="835688" y="5714162"/>
            <a:ext cx="127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Secondario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E129EA21-73C4-8995-735A-379A7241F134}"/>
              </a:ext>
            </a:extLst>
          </p:cNvPr>
          <p:cNvSpPr txBox="1"/>
          <p:nvPr/>
        </p:nvSpPr>
        <p:spPr>
          <a:xfrm>
            <a:off x="2347966" y="5709921"/>
            <a:ext cx="127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Secondario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928EBFAB-3E18-A9FE-DB71-A26E6428904F}"/>
              </a:ext>
            </a:extLst>
          </p:cNvPr>
          <p:cNvSpPr txBox="1"/>
          <p:nvPr/>
        </p:nvSpPr>
        <p:spPr>
          <a:xfrm>
            <a:off x="3985847" y="5709921"/>
            <a:ext cx="127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Secondario</a:t>
            </a:r>
          </a:p>
        </p:txBody>
      </p:sp>
      <p:sp>
        <p:nvSpPr>
          <p:cNvPr id="26" name="Cilindro 25">
            <a:extLst>
              <a:ext uri="{FF2B5EF4-FFF2-40B4-BE49-F238E27FC236}">
                <a16:creationId xmlns:a16="http://schemas.microsoft.com/office/drawing/2014/main" id="{520F3D48-9FFC-D240-3AA1-B55972E4E7AE}"/>
              </a:ext>
            </a:extLst>
          </p:cNvPr>
          <p:cNvSpPr/>
          <p:nvPr/>
        </p:nvSpPr>
        <p:spPr>
          <a:xfrm>
            <a:off x="8532725" y="1956916"/>
            <a:ext cx="1130440" cy="71092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Cilindro 26">
            <a:extLst>
              <a:ext uri="{FF2B5EF4-FFF2-40B4-BE49-F238E27FC236}">
                <a16:creationId xmlns:a16="http://schemas.microsoft.com/office/drawing/2014/main" id="{CB23099C-BFA4-6FAA-B8A6-76E336BD4623}"/>
              </a:ext>
            </a:extLst>
          </p:cNvPr>
          <p:cNvSpPr/>
          <p:nvPr/>
        </p:nvSpPr>
        <p:spPr>
          <a:xfrm>
            <a:off x="8532725" y="2336241"/>
            <a:ext cx="1130440" cy="710921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Cilindro 27">
            <a:extLst>
              <a:ext uri="{FF2B5EF4-FFF2-40B4-BE49-F238E27FC236}">
                <a16:creationId xmlns:a16="http://schemas.microsoft.com/office/drawing/2014/main" id="{980680D2-E99D-EC48-EF12-D5906D1997F6}"/>
              </a:ext>
            </a:extLst>
          </p:cNvPr>
          <p:cNvSpPr/>
          <p:nvPr/>
        </p:nvSpPr>
        <p:spPr>
          <a:xfrm>
            <a:off x="8532725" y="2715566"/>
            <a:ext cx="1130440" cy="710921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0770416B-F732-2706-A824-B3BA4D752252}"/>
              </a:ext>
            </a:extLst>
          </p:cNvPr>
          <p:cNvSpPr txBox="1"/>
          <p:nvPr/>
        </p:nvSpPr>
        <p:spPr>
          <a:xfrm>
            <a:off x="1809960" y="693032"/>
            <a:ext cx="2600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REPLICA SET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640CEAB1-D333-28E5-DD99-F5840B74114E}"/>
              </a:ext>
            </a:extLst>
          </p:cNvPr>
          <p:cNvSpPr txBox="1"/>
          <p:nvPr/>
        </p:nvSpPr>
        <p:spPr>
          <a:xfrm>
            <a:off x="7985510" y="693032"/>
            <a:ext cx="2242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SHARDING</a:t>
            </a:r>
          </a:p>
        </p:txBody>
      </p:sp>
    </p:spTree>
    <p:extLst>
      <p:ext uri="{BB962C8B-B14F-4D97-AF65-F5344CB8AC3E}">
        <p14:creationId xmlns:p14="http://schemas.microsoft.com/office/powerpoint/2010/main" val="4061005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95761-DD6D-74EF-497B-FC31AAD17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lindro 3">
            <a:extLst>
              <a:ext uri="{FF2B5EF4-FFF2-40B4-BE49-F238E27FC236}">
                <a16:creationId xmlns:a16="http://schemas.microsoft.com/office/drawing/2014/main" id="{E5739971-C057-9457-3AAF-00C34F655D6A}"/>
              </a:ext>
            </a:extLst>
          </p:cNvPr>
          <p:cNvSpPr/>
          <p:nvPr/>
        </p:nvSpPr>
        <p:spPr>
          <a:xfrm>
            <a:off x="2497015" y="1956916"/>
            <a:ext cx="1130440" cy="71092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ilindro 4">
            <a:extLst>
              <a:ext uri="{FF2B5EF4-FFF2-40B4-BE49-F238E27FC236}">
                <a16:creationId xmlns:a16="http://schemas.microsoft.com/office/drawing/2014/main" id="{B574E2C3-26E0-F663-5E32-6155F966E209}"/>
              </a:ext>
            </a:extLst>
          </p:cNvPr>
          <p:cNvSpPr/>
          <p:nvPr/>
        </p:nvSpPr>
        <p:spPr>
          <a:xfrm>
            <a:off x="2497015" y="2336241"/>
            <a:ext cx="1130440" cy="710921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ilindro 5">
            <a:extLst>
              <a:ext uri="{FF2B5EF4-FFF2-40B4-BE49-F238E27FC236}">
                <a16:creationId xmlns:a16="http://schemas.microsoft.com/office/drawing/2014/main" id="{C258055E-D87A-F344-2C52-EE3D14A239F8}"/>
              </a:ext>
            </a:extLst>
          </p:cNvPr>
          <p:cNvSpPr/>
          <p:nvPr/>
        </p:nvSpPr>
        <p:spPr>
          <a:xfrm>
            <a:off x="2497015" y="2715566"/>
            <a:ext cx="1130440" cy="710921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ilindro 6">
            <a:extLst>
              <a:ext uri="{FF2B5EF4-FFF2-40B4-BE49-F238E27FC236}">
                <a16:creationId xmlns:a16="http://schemas.microsoft.com/office/drawing/2014/main" id="{C0C19CF0-4130-CBD3-A3EA-A35CE4A10529}"/>
              </a:ext>
            </a:extLst>
          </p:cNvPr>
          <p:cNvSpPr/>
          <p:nvPr/>
        </p:nvSpPr>
        <p:spPr>
          <a:xfrm>
            <a:off x="921099" y="4244591"/>
            <a:ext cx="1130440" cy="71092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ilindro 7">
            <a:extLst>
              <a:ext uri="{FF2B5EF4-FFF2-40B4-BE49-F238E27FC236}">
                <a16:creationId xmlns:a16="http://schemas.microsoft.com/office/drawing/2014/main" id="{F46D5FE7-AC82-5C9E-9DAA-2F762D280F27}"/>
              </a:ext>
            </a:extLst>
          </p:cNvPr>
          <p:cNvSpPr/>
          <p:nvPr/>
        </p:nvSpPr>
        <p:spPr>
          <a:xfrm>
            <a:off x="921099" y="4623916"/>
            <a:ext cx="1130440" cy="710921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ilindro 8">
            <a:extLst>
              <a:ext uri="{FF2B5EF4-FFF2-40B4-BE49-F238E27FC236}">
                <a16:creationId xmlns:a16="http://schemas.microsoft.com/office/drawing/2014/main" id="{B99FD1BE-9B61-A43A-E8FA-998907BCA6FA}"/>
              </a:ext>
            </a:extLst>
          </p:cNvPr>
          <p:cNvSpPr/>
          <p:nvPr/>
        </p:nvSpPr>
        <p:spPr>
          <a:xfrm>
            <a:off x="921099" y="5003241"/>
            <a:ext cx="1130440" cy="710921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ilindro 9">
            <a:extLst>
              <a:ext uri="{FF2B5EF4-FFF2-40B4-BE49-F238E27FC236}">
                <a16:creationId xmlns:a16="http://schemas.microsoft.com/office/drawing/2014/main" id="{DD0B480A-4B83-99A4-985A-754AC08BEDC6}"/>
              </a:ext>
            </a:extLst>
          </p:cNvPr>
          <p:cNvSpPr/>
          <p:nvPr/>
        </p:nvSpPr>
        <p:spPr>
          <a:xfrm>
            <a:off x="2453473" y="4244591"/>
            <a:ext cx="1130440" cy="71092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ilindro 10">
            <a:extLst>
              <a:ext uri="{FF2B5EF4-FFF2-40B4-BE49-F238E27FC236}">
                <a16:creationId xmlns:a16="http://schemas.microsoft.com/office/drawing/2014/main" id="{1A3169AE-2A82-B75C-5F29-68552D61E384}"/>
              </a:ext>
            </a:extLst>
          </p:cNvPr>
          <p:cNvSpPr/>
          <p:nvPr/>
        </p:nvSpPr>
        <p:spPr>
          <a:xfrm>
            <a:off x="2453473" y="4623916"/>
            <a:ext cx="1130440" cy="710921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ilindro 11">
            <a:extLst>
              <a:ext uri="{FF2B5EF4-FFF2-40B4-BE49-F238E27FC236}">
                <a16:creationId xmlns:a16="http://schemas.microsoft.com/office/drawing/2014/main" id="{59EB40D9-976E-7051-D47C-3A063F3267B3}"/>
              </a:ext>
            </a:extLst>
          </p:cNvPr>
          <p:cNvSpPr/>
          <p:nvPr/>
        </p:nvSpPr>
        <p:spPr>
          <a:xfrm>
            <a:off x="2453473" y="5003241"/>
            <a:ext cx="1130440" cy="710921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ilindro 12">
            <a:extLst>
              <a:ext uri="{FF2B5EF4-FFF2-40B4-BE49-F238E27FC236}">
                <a16:creationId xmlns:a16="http://schemas.microsoft.com/office/drawing/2014/main" id="{96D9B500-261B-923C-BC52-DDA70B903D35}"/>
              </a:ext>
            </a:extLst>
          </p:cNvPr>
          <p:cNvSpPr/>
          <p:nvPr/>
        </p:nvSpPr>
        <p:spPr>
          <a:xfrm>
            <a:off x="4086329" y="4244591"/>
            <a:ext cx="1130440" cy="71092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ilindro 13">
            <a:extLst>
              <a:ext uri="{FF2B5EF4-FFF2-40B4-BE49-F238E27FC236}">
                <a16:creationId xmlns:a16="http://schemas.microsoft.com/office/drawing/2014/main" id="{AA6CB92A-E331-8C5E-D5DD-0CA04E7D4553}"/>
              </a:ext>
            </a:extLst>
          </p:cNvPr>
          <p:cNvSpPr/>
          <p:nvPr/>
        </p:nvSpPr>
        <p:spPr>
          <a:xfrm>
            <a:off x="4086329" y="4623916"/>
            <a:ext cx="1130440" cy="710921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Cilindro 14">
            <a:extLst>
              <a:ext uri="{FF2B5EF4-FFF2-40B4-BE49-F238E27FC236}">
                <a16:creationId xmlns:a16="http://schemas.microsoft.com/office/drawing/2014/main" id="{66988878-57EF-24FD-77F7-4724EF69C472}"/>
              </a:ext>
            </a:extLst>
          </p:cNvPr>
          <p:cNvSpPr/>
          <p:nvPr/>
        </p:nvSpPr>
        <p:spPr>
          <a:xfrm>
            <a:off x="4086329" y="5003241"/>
            <a:ext cx="1130440" cy="710921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0456AAF8-798B-A34A-FDB7-D66B4EBEB3B8}"/>
              </a:ext>
            </a:extLst>
          </p:cNvPr>
          <p:cNvCxnSpPr>
            <a:stCxn id="6" idx="3"/>
            <a:endCxn id="13" idx="1"/>
          </p:cNvCxnSpPr>
          <p:nvPr/>
        </p:nvCxnSpPr>
        <p:spPr>
          <a:xfrm>
            <a:off x="3062235" y="3426487"/>
            <a:ext cx="1589314" cy="818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675D9F79-71DB-2DB6-D106-CA59AF4C526E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H="1">
            <a:off x="3018693" y="3426487"/>
            <a:ext cx="43542" cy="818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8D16C16C-8498-E6F8-86B8-9848717CE70B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H="1">
            <a:off x="1486319" y="3426487"/>
            <a:ext cx="1575916" cy="818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C654F4E-E7CA-8F24-3063-61CB58704FD2}"/>
              </a:ext>
            </a:extLst>
          </p:cNvPr>
          <p:cNvSpPr txBox="1"/>
          <p:nvPr/>
        </p:nvSpPr>
        <p:spPr>
          <a:xfrm>
            <a:off x="2592475" y="1529026"/>
            <a:ext cx="1034980" cy="380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Primario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9318D40D-22E0-0E9D-C376-F572E0BEF277}"/>
              </a:ext>
            </a:extLst>
          </p:cNvPr>
          <p:cNvSpPr txBox="1"/>
          <p:nvPr/>
        </p:nvSpPr>
        <p:spPr>
          <a:xfrm>
            <a:off x="835688" y="5714162"/>
            <a:ext cx="127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Secondario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1938DE61-BC86-7583-41A8-EC037BAE1F45}"/>
              </a:ext>
            </a:extLst>
          </p:cNvPr>
          <p:cNvSpPr txBox="1"/>
          <p:nvPr/>
        </p:nvSpPr>
        <p:spPr>
          <a:xfrm>
            <a:off x="2347966" y="5709921"/>
            <a:ext cx="127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Secondario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5E80290-38A5-43FD-80DA-8D70375A7B77}"/>
              </a:ext>
            </a:extLst>
          </p:cNvPr>
          <p:cNvSpPr txBox="1"/>
          <p:nvPr/>
        </p:nvSpPr>
        <p:spPr>
          <a:xfrm>
            <a:off x="3985847" y="5709921"/>
            <a:ext cx="127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Secondario</a:t>
            </a:r>
          </a:p>
        </p:txBody>
      </p:sp>
      <p:sp>
        <p:nvSpPr>
          <p:cNvPr id="26" name="Cilindro 25">
            <a:extLst>
              <a:ext uri="{FF2B5EF4-FFF2-40B4-BE49-F238E27FC236}">
                <a16:creationId xmlns:a16="http://schemas.microsoft.com/office/drawing/2014/main" id="{F06DA967-5515-4F30-15A3-43394293D5A8}"/>
              </a:ext>
            </a:extLst>
          </p:cNvPr>
          <p:cNvSpPr/>
          <p:nvPr/>
        </p:nvSpPr>
        <p:spPr>
          <a:xfrm>
            <a:off x="8532725" y="1956916"/>
            <a:ext cx="1130440" cy="71092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Cilindro 26">
            <a:extLst>
              <a:ext uri="{FF2B5EF4-FFF2-40B4-BE49-F238E27FC236}">
                <a16:creationId xmlns:a16="http://schemas.microsoft.com/office/drawing/2014/main" id="{76D85966-F996-97EA-9289-7192675EA965}"/>
              </a:ext>
            </a:extLst>
          </p:cNvPr>
          <p:cNvSpPr/>
          <p:nvPr/>
        </p:nvSpPr>
        <p:spPr>
          <a:xfrm>
            <a:off x="8532725" y="2336241"/>
            <a:ext cx="1130440" cy="710921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Cilindro 27">
            <a:extLst>
              <a:ext uri="{FF2B5EF4-FFF2-40B4-BE49-F238E27FC236}">
                <a16:creationId xmlns:a16="http://schemas.microsoft.com/office/drawing/2014/main" id="{D68323AE-25C9-2211-1A26-8E442118EFB0}"/>
              </a:ext>
            </a:extLst>
          </p:cNvPr>
          <p:cNvSpPr/>
          <p:nvPr/>
        </p:nvSpPr>
        <p:spPr>
          <a:xfrm>
            <a:off x="8532725" y="2715566"/>
            <a:ext cx="1130440" cy="710921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Cilindro 29">
            <a:extLst>
              <a:ext uri="{FF2B5EF4-FFF2-40B4-BE49-F238E27FC236}">
                <a16:creationId xmlns:a16="http://schemas.microsoft.com/office/drawing/2014/main" id="{9E14FBB7-ABEC-A435-4319-4474A4307F15}"/>
              </a:ext>
            </a:extLst>
          </p:cNvPr>
          <p:cNvSpPr/>
          <p:nvPr/>
        </p:nvSpPr>
        <p:spPr>
          <a:xfrm>
            <a:off x="10228385" y="4244590"/>
            <a:ext cx="1130440" cy="710921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Cilindro 30">
            <a:extLst>
              <a:ext uri="{FF2B5EF4-FFF2-40B4-BE49-F238E27FC236}">
                <a16:creationId xmlns:a16="http://schemas.microsoft.com/office/drawing/2014/main" id="{69379A83-9062-AEC0-BCF9-DA2375D2703F}"/>
              </a:ext>
            </a:extLst>
          </p:cNvPr>
          <p:cNvSpPr/>
          <p:nvPr/>
        </p:nvSpPr>
        <p:spPr>
          <a:xfrm>
            <a:off x="8532725" y="4244590"/>
            <a:ext cx="1130440" cy="710921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Cilindro 31">
            <a:extLst>
              <a:ext uri="{FF2B5EF4-FFF2-40B4-BE49-F238E27FC236}">
                <a16:creationId xmlns:a16="http://schemas.microsoft.com/office/drawing/2014/main" id="{51E50113-1C20-FF47-A925-6ACD351A94F8}"/>
              </a:ext>
            </a:extLst>
          </p:cNvPr>
          <p:cNvSpPr/>
          <p:nvPr/>
        </p:nvSpPr>
        <p:spPr>
          <a:xfrm>
            <a:off x="6837065" y="4207747"/>
            <a:ext cx="1130440" cy="71092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99BB5050-618C-B80C-9DD8-FF6895466DA2}"/>
              </a:ext>
            </a:extLst>
          </p:cNvPr>
          <p:cNvSpPr txBox="1"/>
          <p:nvPr/>
        </p:nvSpPr>
        <p:spPr>
          <a:xfrm>
            <a:off x="1809960" y="693032"/>
            <a:ext cx="2600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REPLICA SET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34B8FD71-B3D6-7D56-711F-B553AECBAB08}"/>
              </a:ext>
            </a:extLst>
          </p:cNvPr>
          <p:cNvSpPr txBox="1"/>
          <p:nvPr/>
        </p:nvSpPr>
        <p:spPr>
          <a:xfrm>
            <a:off x="7985510" y="693032"/>
            <a:ext cx="2242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/>
              <a:t>SHARDING</a:t>
            </a:r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2A777E49-5D27-31FC-D183-A1FDA50B931A}"/>
              </a:ext>
            </a:extLst>
          </p:cNvPr>
          <p:cNvCxnSpPr>
            <a:stCxn id="28" idx="3"/>
            <a:endCxn id="32" idx="1"/>
          </p:cNvCxnSpPr>
          <p:nvPr/>
        </p:nvCxnSpPr>
        <p:spPr>
          <a:xfrm flipH="1">
            <a:off x="7402285" y="3426487"/>
            <a:ext cx="1695660" cy="781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13A4064F-C81D-751F-B16B-09CB31059BC7}"/>
              </a:ext>
            </a:extLst>
          </p:cNvPr>
          <p:cNvCxnSpPr>
            <a:stCxn id="28" idx="3"/>
            <a:endCxn id="31" idx="1"/>
          </p:cNvCxnSpPr>
          <p:nvPr/>
        </p:nvCxnSpPr>
        <p:spPr>
          <a:xfrm>
            <a:off x="9097945" y="3426487"/>
            <a:ext cx="0" cy="818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8F55F51F-91AB-0A44-5B4D-5BF2A184F6B4}"/>
              </a:ext>
            </a:extLst>
          </p:cNvPr>
          <p:cNvCxnSpPr>
            <a:stCxn id="28" idx="3"/>
            <a:endCxn id="30" idx="1"/>
          </p:cNvCxnSpPr>
          <p:nvPr/>
        </p:nvCxnSpPr>
        <p:spPr>
          <a:xfrm>
            <a:off x="9097945" y="3426487"/>
            <a:ext cx="1695660" cy="818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984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CDB005-399C-034E-4F13-F6E2DE13D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 </a:t>
            </a:r>
            <a:r>
              <a:rPr lang="it-IT" b="1" dirty="0"/>
              <a:t>Write </a:t>
            </a:r>
            <a:r>
              <a:rPr lang="it-IT" b="1" dirty="0" err="1"/>
              <a:t>Concern</a:t>
            </a:r>
            <a:r>
              <a:rPr lang="it-IT" b="1" dirty="0"/>
              <a:t> Level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B57D31-3120-C1DF-87A2-FBE4D2992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b="1" dirty="0" err="1"/>
              <a:t>Aknowledged</a:t>
            </a:r>
            <a:endParaRPr lang="it-IT" b="1" dirty="0"/>
          </a:p>
          <a:p>
            <a:pPr lvl="1"/>
            <a:r>
              <a:rPr lang="it-IT" dirty="0"/>
              <a:t> indica che il client riceverà risposta quando il comando sarà stato recepito e il server lo avrà memorizzato.</a:t>
            </a:r>
            <a:endParaRPr lang="it-IT" b="1" dirty="0"/>
          </a:p>
          <a:p>
            <a:r>
              <a:rPr lang="it-IT" b="1" dirty="0" err="1"/>
              <a:t>Unaknowledged</a:t>
            </a:r>
            <a:endParaRPr lang="it-IT" b="1" dirty="0"/>
          </a:p>
          <a:p>
            <a:pPr lvl="1"/>
            <a:r>
              <a:rPr lang="it-IT" dirty="0"/>
              <a:t>il client invia il comando e non attende nessuna risposta</a:t>
            </a:r>
            <a:endParaRPr lang="it-IT" b="1" dirty="0"/>
          </a:p>
          <a:p>
            <a:r>
              <a:rPr lang="it-IT" b="1" dirty="0" err="1"/>
              <a:t>Journaled</a:t>
            </a:r>
            <a:endParaRPr lang="it-IT" b="1" dirty="0"/>
          </a:p>
          <a:p>
            <a:pPr lvl="1"/>
            <a:r>
              <a:rPr lang="it-IT" dirty="0"/>
              <a:t>il client riceverà la risposta dal server solo quando il comando sarà stato salvato in memoria e scritto nel disco fisso sul </a:t>
            </a:r>
            <a:r>
              <a:rPr lang="it-IT" b="1" dirty="0" err="1"/>
              <a:t>transaction</a:t>
            </a:r>
            <a:r>
              <a:rPr lang="it-IT" b="1" dirty="0"/>
              <a:t> log</a:t>
            </a:r>
          </a:p>
          <a:p>
            <a:r>
              <a:rPr lang="it-IT" b="1" dirty="0"/>
              <a:t>Replica </a:t>
            </a:r>
            <a:r>
              <a:rPr lang="it-IT" b="1" dirty="0" err="1"/>
              <a:t>Acknowledged</a:t>
            </a:r>
            <a:endParaRPr lang="it-IT" b="1" dirty="0"/>
          </a:p>
          <a:p>
            <a:pPr lvl="1"/>
            <a:r>
              <a:rPr lang="it-IT" dirty="0"/>
              <a:t>Garantisce che la modifica è stata propagata sul numero di repliche</a:t>
            </a:r>
            <a:endParaRPr lang="it-IT" b="1" dirty="0"/>
          </a:p>
          <a:p>
            <a:r>
              <a:rPr lang="it-IT" b="1" dirty="0" err="1"/>
              <a:t>Majority</a:t>
            </a:r>
            <a:endParaRPr lang="it-IT" b="1" dirty="0"/>
          </a:p>
          <a:p>
            <a:pPr lvl="1"/>
            <a:r>
              <a:rPr lang="it-IT" dirty="0"/>
              <a:t>simile a Replica </a:t>
            </a:r>
            <a:r>
              <a:rPr lang="it-IT" dirty="0" err="1"/>
              <a:t>Aknowledged</a:t>
            </a:r>
            <a:r>
              <a:rPr lang="it-IT" dirty="0"/>
              <a:t>, ma si aspetta che la modifica sia propagata sulla maggioranza delle repliche</a:t>
            </a:r>
          </a:p>
        </p:txBody>
      </p:sp>
    </p:spTree>
    <p:extLst>
      <p:ext uri="{BB962C8B-B14F-4D97-AF65-F5344CB8AC3E}">
        <p14:creationId xmlns:p14="http://schemas.microsoft.com/office/powerpoint/2010/main" val="1176382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9AF623-24F9-4BED-B585-8E18DC872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PRIMI COMANDI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D92A1A-881C-4511-80D0-2EE86F8A5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52321"/>
          </a:xfrm>
        </p:spPr>
        <p:txBody>
          <a:bodyPr>
            <a:normAutofit/>
          </a:bodyPr>
          <a:lstStyle/>
          <a:p>
            <a:r>
              <a:rPr lang="it-IT" dirty="0"/>
              <a:t>MONGOD (avvia il servizio)</a:t>
            </a:r>
          </a:p>
          <a:p>
            <a:r>
              <a:rPr lang="it-IT" dirty="0"/>
              <a:t>use </a:t>
            </a:r>
            <a:r>
              <a:rPr lang="it-IT" dirty="0" err="1"/>
              <a:t>nomedatabase</a:t>
            </a:r>
            <a:r>
              <a:rPr lang="it-IT" dirty="0"/>
              <a:t> (se non esiste provvede a crearlo)</a:t>
            </a:r>
          </a:p>
          <a:p>
            <a:r>
              <a:rPr lang="it-IT" dirty="0" err="1"/>
              <a:t>db.ceateColletion</a:t>
            </a:r>
            <a:r>
              <a:rPr lang="it-IT" dirty="0"/>
              <a:t>(‘</a:t>
            </a:r>
            <a:r>
              <a:rPr lang="it-IT" dirty="0" err="1"/>
              <a:t>nomecollection</a:t>
            </a:r>
            <a:r>
              <a:rPr lang="it-IT" dirty="0"/>
              <a:t>’); (creo la collezione dei </a:t>
            </a:r>
            <a:r>
              <a:rPr lang="it-IT" dirty="0" err="1"/>
              <a:t>document</a:t>
            </a:r>
            <a:r>
              <a:rPr lang="it-IT" dirty="0"/>
              <a:t>) – Notare la mancanza dei campi e tipi di dati per effetto dello </a:t>
            </a:r>
            <a:r>
              <a:rPr lang="it-IT" dirty="0" err="1"/>
              <a:t>schemaless</a:t>
            </a:r>
            <a:r>
              <a:rPr lang="it-IT" dirty="0"/>
              <a:t>.</a:t>
            </a:r>
          </a:p>
          <a:p>
            <a:r>
              <a:rPr lang="it-IT" dirty="0" err="1"/>
              <a:t>db</a:t>
            </a:r>
            <a:r>
              <a:rPr lang="it-IT" dirty="0"/>
              <a:t>. Premendo doppio tab, vengono visualizzati tutti i comandi del </a:t>
            </a:r>
            <a:r>
              <a:rPr lang="it-IT" dirty="0" err="1"/>
              <a:t>db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29115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1094</Words>
  <Application>Microsoft Office PowerPoint</Application>
  <PresentationFormat>Widescreen</PresentationFormat>
  <Paragraphs>197</Paragraphs>
  <Slides>24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Open Sans</vt:lpstr>
      <vt:lpstr>Tema di Office</vt:lpstr>
      <vt:lpstr>Presentazione standard di PowerPoint</vt:lpstr>
      <vt:lpstr>Chi usa MONGODB</vt:lpstr>
      <vt:lpstr>Cos’è MONGODB</vt:lpstr>
      <vt:lpstr>Un database NON relazionale.</vt:lpstr>
      <vt:lpstr>Un database NON relazionale.</vt:lpstr>
      <vt:lpstr>TRANSAZIONE</vt:lpstr>
      <vt:lpstr>TRANSAZIONE</vt:lpstr>
      <vt:lpstr>TRANSAZIONE</vt:lpstr>
      <vt:lpstr>TRANSAZIONE</vt:lpstr>
      <vt:lpstr>TRANSAZIONE</vt:lpstr>
      <vt:lpstr>TRANSAZIONE</vt:lpstr>
      <vt:lpstr>TRANSAZIONE</vt:lpstr>
      <vt:lpstr>TRANSAZIONE</vt:lpstr>
      <vt:lpstr>TRANSAZIONE</vt:lpstr>
      <vt:lpstr>Viene detto NOSQL:</vt:lpstr>
      <vt:lpstr>Database NOSQL</vt:lpstr>
      <vt:lpstr>Viene definito SCHEMALESS</vt:lpstr>
      <vt:lpstr>PARSING DEI DATI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 Write Concern Level</vt:lpstr>
      <vt:lpstr>PRIMI COMANDI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Marcello Valeri</dc:creator>
  <cp:lastModifiedBy>Marcello Valeri</cp:lastModifiedBy>
  <cp:revision>39</cp:revision>
  <dcterms:created xsi:type="dcterms:W3CDTF">2021-06-25T07:37:26Z</dcterms:created>
  <dcterms:modified xsi:type="dcterms:W3CDTF">2026-04-18T18:31:42Z</dcterms:modified>
</cp:coreProperties>
</file>